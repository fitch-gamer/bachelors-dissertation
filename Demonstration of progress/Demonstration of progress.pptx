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256" r:id="rId2"/>
    <p:sldId id="258" r:id="rId3"/>
    <p:sldId id="266" r:id="rId4"/>
    <p:sldId id="268" r:id="rId5"/>
    <p:sldId id="269" r:id="rId6"/>
    <p:sldId id="270" r:id="rId7"/>
    <p:sldId id="257" r:id="rId8"/>
    <p:sldId id="259" r:id="rId9"/>
    <p:sldId id="271" r:id="rId10"/>
    <p:sldId id="272" r:id="rId11"/>
    <p:sldId id="263" r:id="rId12"/>
    <p:sldId id="273" r:id="rId13"/>
    <p:sldId id="260" r:id="rId14"/>
    <p:sldId id="261" r:id="rId15"/>
    <p:sldId id="274" r:id="rId16"/>
    <p:sldId id="262" r:id="rId17"/>
    <p:sldId id="265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diagrams/_rels/data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diagrams/_rels/data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svg"/><Relationship Id="rId1" Type="http://schemas.openxmlformats.org/officeDocument/2006/relationships/image" Target="../media/image7.png"/><Relationship Id="rId4" Type="http://schemas.openxmlformats.org/officeDocument/2006/relationships/image" Target="../media/image10.svg"/></Relationships>
</file>

<file path=ppt/diagrams/_rels/data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svg"/><Relationship Id="rId1" Type="http://schemas.openxmlformats.org/officeDocument/2006/relationships/image" Target="../media/image11.png"/><Relationship Id="rId4" Type="http://schemas.openxmlformats.org/officeDocument/2006/relationships/image" Target="../media/image14.svg"/></Relationships>
</file>

<file path=ppt/diagrams/_rels/drawing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diagrams/_rels/drawing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svg"/><Relationship Id="rId1" Type="http://schemas.openxmlformats.org/officeDocument/2006/relationships/image" Target="../media/image7.png"/><Relationship Id="rId4" Type="http://schemas.openxmlformats.org/officeDocument/2006/relationships/image" Target="../media/image10.svg"/></Relationships>
</file>

<file path=ppt/diagrams/_rels/drawing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svg"/><Relationship Id="rId1" Type="http://schemas.openxmlformats.org/officeDocument/2006/relationships/image" Target="../media/image11.png"/><Relationship Id="rId4" Type="http://schemas.openxmlformats.org/officeDocument/2006/relationships/image" Target="../media/image14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18/5/colors/Iconchunking_colored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accent2">
        <a:alpha val="0"/>
      </a:schemeClr>
    </dgm:fillClrLst>
    <dgm:linClrLst meth="repeat">
      <a:schemeClr val="accent2">
        <a:alpha val="0"/>
      </a:schemeClr>
    </dgm:linClrLst>
    <dgm:effectClrLst/>
    <dgm:txLinClrLst/>
    <dgm:txFillClrLst meth="repeat">
      <a:schemeClr val="accent2"/>
      <a:schemeClr val="accent3"/>
      <a:schemeClr val="accent4"/>
      <a:schemeClr val="accent5"/>
      <a:schemeClr val="accent6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13011B9-BABD-4879-B33C-0829DB0030A7}" type="doc">
      <dgm:prSet loTypeId="urn:microsoft.com/office/officeart/2016/7/layout/RepeatingBendingProcessNew" loCatId="process" qsTypeId="urn:microsoft.com/office/officeart/2005/8/quickstyle/simple1" qsCatId="simple" csTypeId="urn:microsoft.com/office/officeart/2005/8/colors/colorful5" csCatId="colorful"/>
      <dgm:spPr/>
      <dgm:t>
        <a:bodyPr/>
        <a:lstStyle/>
        <a:p>
          <a:endParaRPr lang="en-US"/>
        </a:p>
      </dgm:t>
    </dgm:pt>
    <dgm:pt modelId="{80CB3D14-81F9-4C2A-9EFA-AE0547F401E9}">
      <dgm:prSet/>
      <dgm:spPr/>
      <dgm:t>
        <a:bodyPr/>
        <a:lstStyle/>
        <a:p>
          <a:r>
            <a:rPr lang="en-GB"/>
            <a:t>Analyse the practical security risks as a result of web enabled LLM’s</a:t>
          </a:r>
          <a:endParaRPr lang="en-US"/>
        </a:p>
      </dgm:t>
    </dgm:pt>
    <dgm:pt modelId="{85E99E2D-F3C7-4889-9F30-321E8286D3EB}" type="parTrans" cxnId="{DF2A30E1-6CD8-4357-8800-A1C67BF7F687}">
      <dgm:prSet/>
      <dgm:spPr/>
      <dgm:t>
        <a:bodyPr/>
        <a:lstStyle/>
        <a:p>
          <a:endParaRPr lang="en-US"/>
        </a:p>
      </dgm:t>
    </dgm:pt>
    <dgm:pt modelId="{51A6FE07-6F47-46DE-B936-C118F3298346}" type="sibTrans" cxnId="{DF2A30E1-6CD8-4357-8800-A1C67BF7F687}">
      <dgm:prSet/>
      <dgm:spPr/>
      <dgm:t>
        <a:bodyPr/>
        <a:lstStyle/>
        <a:p>
          <a:endParaRPr lang="en-US"/>
        </a:p>
      </dgm:t>
    </dgm:pt>
    <dgm:pt modelId="{6D1FC112-02BF-44B9-A869-07B690C5C67C}">
      <dgm:prSet/>
      <dgm:spPr/>
      <dgm:t>
        <a:bodyPr/>
        <a:lstStyle/>
        <a:p>
          <a:r>
            <a:rPr lang="en-GB"/>
            <a:t>Prove the security threats are possible and pose a real world threat to LLM’s</a:t>
          </a:r>
          <a:endParaRPr lang="en-US"/>
        </a:p>
      </dgm:t>
    </dgm:pt>
    <dgm:pt modelId="{C919FFC7-EB6D-43E3-A3E3-2B71B0571EEC}" type="parTrans" cxnId="{FFCAEADB-5363-47D4-995B-54E597E35DD2}">
      <dgm:prSet/>
      <dgm:spPr/>
      <dgm:t>
        <a:bodyPr/>
        <a:lstStyle/>
        <a:p>
          <a:endParaRPr lang="en-US"/>
        </a:p>
      </dgm:t>
    </dgm:pt>
    <dgm:pt modelId="{58B9A0E8-8C4B-45D6-96C5-59778E4469CD}" type="sibTrans" cxnId="{FFCAEADB-5363-47D4-995B-54E597E35DD2}">
      <dgm:prSet/>
      <dgm:spPr/>
      <dgm:t>
        <a:bodyPr/>
        <a:lstStyle/>
        <a:p>
          <a:endParaRPr lang="en-US"/>
        </a:p>
      </dgm:t>
    </dgm:pt>
    <dgm:pt modelId="{7EB5DDE4-3265-46F5-BF88-6C60C24CE68C}">
      <dgm:prSet/>
      <dgm:spPr/>
      <dgm:t>
        <a:bodyPr/>
        <a:lstStyle/>
        <a:p>
          <a:r>
            <a:rPr lang="en-GB"/>
            <a:t>Develop a tool to allow a penetration tester to quickly and easily assess the threat of indirect prompt injection of a web enabled LLM</a:t>
          </a:r>
          <a:endParaRPr lang="en-US"/>
        </a:p>
      </dgm:t>
    </dgm:pt>
    <dgm:pt modelId="{48C46280-C579-4F9E-9D56-7CB45BF28890}" type="parTrans" cxnId="{0AE3FF14-B2B6-4142-BFD2-876CDE15F78C}">
      <dgm:prSet/>
      <dgm:spPr/>
      <dgm:t>
        <a:bodyPr/>
        <a:lstStyle/>
        <a:p>
          <a:endParaRPr lang="en-US"/>
        </a:p>
      </dgm:t>
    </dgm:pt>
    <dgm:pt modelId="{42580D26-C3DC-4C01-8143-0C24A849801C}" type="sibTrans" cxnId="{0AE3FF14-B2B6-4142-BFD2-876CDE15F78C}">
      <dgm:prSet/>
      <dgm:spPr/>
      <dgm:t>
        <a:bodyPr/>
        <a:lstStyle/>
        <a:p>
          <a:endParaRPr lang="en-US"/>
        </a:p>
      </dgm:t>
    </dgm:pt>
    <dgm:pt modelId="{FE995DAE-ACFE-4D40-AA31-E46E8088DD6B}" type="pres">
      <dgm:prSet presAssocID="{613011B9-BABD-4879-B33C-0829DB0030A7}" presName="Name0" presStyleCnt="0">
        <dgm:presLayoutVars>
          <dgm:dir/>
          <dgm:resizeHandles val="exact"/>
        </dgm:presLayoutVars>
      </dgm:prSet>
      <dgm:spPr/>
    </dgm:pt>
    <dgm:pt modelId="{A82262F2-A321-4CBF-9B13-7D1A0DDCF1FE}" type="pres">
      <dgm:prSet presAssocID="{80CB3D14-81F9-4C2A-9EFA-AE0547F401E9}" presName="node" presStyleLbl="node1" presStyleIdx="0" presStyleCnt="3">
        <dgm:presLayoutVars>
          <dgm:bulletEnabled val="1"/>
        </dgm:presLayoutVars>
      </dgm:prSet>
      <dgm:spPr/>
    </dgm:pt>
    <dgm:pt modelId="{9FAED3CA-3AB2-4CAA-A1EE-AB42B9E5C82C}" type="pres">
      <dgm:prSet presAssocID="{51A6FE07-6F47-46DE-B936-C118F3298346}" presName="sibTrans" presStyleLbl="sibTrans1D1" presStyleIdx="0" presStyleCnt="2"/>
      <dgm:spPr/>
    </dgm:pt>
    <dgm:pt modelId="{8CB64019-8353-4976-B5D1-87D74F4453CC}" type="pres">
      <dgm:prSet presAssocID="{51A6FE07-6F47-46DE-B936-C118F3298346}" presName="connectorText" presStyleLbl="sibTrans1D1" presStyleIdx="0" presStyleCnt="2"/>
      <dgm:spPr/>
    </dgm:pt>
    <dgm:pt modelId="{75B443DF-4A09-436D-90FB-9CADA7BE5916}" type="pres">
      <dgm:prSet presAssocID="{6D1FC112-02BF-44B9-A869-07B690C5C67C}" presName="node" presStyleLbl="node1" presStyleIdx="1" presStyleCnt="3">
        <dgm:presLayoutVars>
          <dgm:bulletEnabled val="1"/>
        </dgm:presLayoutVars>
      </dgm:prSet>
      <dgm:spPr/>
    </dgm:pt>
    <dgm:pt modelId="{4A9FD192-F2F3-4089-84C5-744E87A63313}" type="pres">
      <dgm:prSet presAssocID="{58B9A0E8-8C4B-45D6-96C5-59778E4469CD}" presName="sibTrans" presStyleLbl="sibTrans1D1" presStyleIdx="1" presStyleCnt="2"/>
      <dgm:spPr/>
    </dgm:pt>
    <dgm:pt modelId="{BB761D73-9B7A-415C-9217-D455F9B198CE}" type="pres">
      <dgm:prSet presAssocID="{58B9A0E8-8C4B-45D6-96C5-59778E4469CD}" presName="connectorText" presStyleLbl="sibTrans1D1" presStyleIdx="1" presStyleCnt="2"/>
      <dgm:spPr/>
    </dgm:pt>
    <dgm:pt modelId="{67DCEE86-F2FA-4B76-B8A2-3EBE28A21AE8}" type="pres">
      <dgm:prSet presAssocID="{7EB5DDE4-3265-46F5-BF88-6C60C24CE68C}" presName="node" presStyleLbl="node1" presStyleIdx="2" presStyleCnt="3">
        <dgm:presLayoutVars>
          <dgm:bulletEnabled val="1"/>
        </dgm:presLayoutVars>
      </dgm:prSet>
      <dgm:spPr/>
    </dgm:pt>
  </dgm:ptLst>
  <dgm:cxnLst>
    <dgm:cxn modelId="{0AE3FF14-B2B6-4142-BFD2-876CDE15F78C}" srcId="{613011B9-BABD-4879-B33C-0829DB0030A7}" destId="{7EB5DDE4-3265-46F5-BF88-6C60C24CE68C}" srcOrd="2" destOrd="0" parTransId="{48C46280-C579-4F9E-9D56-7CB45BF28890}" sibTransId="{42580D26-C3DC-4C01-8143-0C24A849801C}"/>
    <dgm:cxn modelId="{EB0F5D1C-45C1-4E19-95F8-5B6784584D1A}" type="presOf" srcId="{58B9A0E8-8C4B-45D6-96C5-59778E4469CD}" destId="{BB761D73-9B7A-415C-9217-D455F9B198CE}" srcOrd="1" destOrd="0" presId="urn:microsoft.com/office/officeart/2016/7/layout/RepeatingBendingProcessNew"/>
    <dgm:cxn modelId="{5BF19C24-50AD-4383-BBD9-6AA8DED0D089}" type="presOf" srcId="{80CB3D14-81F9-4C2A-9EFA-AE0547F401E9}" destId="{A82262F2-A321-4CBF-9B13-7D1A0DDCF1FE}" srcOrd="0" destOrd="0" presId="urn:microsoft.com/office/officeart/2016/7/layout/RepeatingBendingProcessNew"/>
    <dgm:cxn modelId="{BBD4485F-7168-4D7A-B3DA-B0FE15D64758}" type="presOf" srcId="{613011B9-BABD-4879-B33C-0829DB0030A7}" destId="{FE995DAE-ACFE-4D40-AA31-E46E8088DD6B}" srcOrd="0" destOrd="0" presId="urn:microsoft.com/office/officeart/2016/7/layout/RepeatingBendingProcessNew"/>
    <dgm:cxn modelId="{3296524D-31F9-4447-AF6B-AC343E355E63}" type="presOf" srcId="{6D1FC112-02BF-44B9-A869-07B690C5C67C}" destId="{75B443DF-4A09-436D-90FB-9CADA7BE5916}" srcOrd="0" destOrd="0" presId="urn:microsoft.com/office/officeart/2016/7/layout/RepeatingBendingProcessNew"/>
    <dgm:cxn modelId="{78BFB681-5097-444D-B9DD-F069DA5A49E3}" type="presOf" srcId="{51A6FE07-6F47-46DE-B936-C118F3298346}" destId="{8CB64019-8353-4976-B5D1-87D74F4453CC}" srcOrd="1" destOrd="0" presId="urn:microsoft.com/office/officeart/2016/7/layout/RepeatingBendingProcessNew"/>
    <dgm:cxn modelId="{4B2A69A9-BA44-4C79-A71B-F180280B5D06}" type="presOf" srcId="{58B9A0E8-8C4B-45D6-96C5-59778E4469CD}" destId="{4A9FD192-F2F3-4089-84C5-744E87A63313}" srcOrd="0" destOrd="0" presId="urn:microsoft.com/office/officeart/2016/7/layout/RepeatingBendingProcessNew"/>
    <dgm:cxn modelId="{E03B88AB-BA79-44EC-AF00-6D2F402B9106}" type="presOf" srcId="{51A6FE07-6F47-46DE-B936-C118F3298346}" destId="{9FAED3CA-3AB2-4CAA-A1EE-AB42B9E5C82C}" srcOrd="0" destOrd="0" presId="urn:microsoft.com/office/officeart/2016/7/layout/RepeatingBendingProcessNew"/>
    <dgm:cxn modelId="{FFCAEADB-5363-47D4-995B-54E597E35DD2}" srcId="{613011B9-BABD-4879-B33C-0829DB0030A7}" destId="{6D1FC112-02BF-44B9-A869-07B690C5C67C}" srcOrd="1" destOrd="0" parTransId="{C919FFC7-EB6D-43E3-A3E3-2B71B0571EEC}" sibTransId="{58B9A0E8-8C4B-45D6-96C5-59778E4469CD}"/>
    <dgm:cxn modelId="{DF2A30E1-6CD8-4357-8800-A1C67BF7F687}" srcId="{613011B9-BABD-4879-B33C-0829DB0030A7}" destId="{80CB3D14-81F9-4C2A-9EFA-AE0547F401E9}" srcOrd="0" destOrd="0" parTransId="{85E99E2D-F3C7-4889-9F30-321E8286D3EB}" sibTransId="{51A6FE07-6F47-46DE-B936-C118F3298346}"/>
    <dgm:cxn modelId="{1D36D0F1-DADB-4A65-B86D-1A969C11AF90}" type="presOf" srcId="{7EB5DDE4-3265-46F5-BF88-6C60C24CE68C}" destId="{67DCEE86-F2FA-4B76-B8A2-3EBE28A21AE8}" srcOrd="0" destOrd="0" presId="urn:microsoft.com/office/officeart/2016/7/layout/RepeatingBendingProcessNew"/>
    <dgm:cxn modelId="{5956F509-AB68-4ECC-9271-2C6F60AD2DAA}" type="presParOf" srcId="{FE995DAE-ACFE-4D40-AA31-E46E8088DD6B}" destId="{A82262F2-A321-4CBF-9B13-7D1A0DDCF1FE}" srcOrd="0" destOrd="0" presId="urn:microsoft.com/office/officeart/2016/7/layout/RepeatingBendingProcessNew"/>
    <dgm:cxn modelId="{05BA6DF0-7BAC-4407-AC4F-60DFD62767B3}" type="presParOf" srcId="{FE995DAE-ACFE-4D40-AA31-E46E8088DD6B}" destId="{9FAED3CA-3AB2-4CAA-A1EE-AB42B9E5C82C}" srcOrd="1" destOrd="0" presId="urn:microsoft.com/office/officeart/2016/7/layout/RepeatingBendingProcessNew"/>
    <dgm:cxn modelId="{1C01FF31-4737-426F-9589-4FCEA52AD60D}" type="presParOf" srcId="{9FAED3CA-3AB2-4CAA-A1EE-AB42B9E5C82C}" destId="{8CB64019-8353-4976-B5D1-87D74F4453CC}" srcOrd="0" destOrd="0" presId="urn:microsoft.com/office/officeart/2016/7/layout/RepeatingBendingProcessNew"/>
    <dgm:cxn modelId="{47598DAA-B2F7-4995-A250-1335F4A1A82B}" type="presParOf" srcId="{FE995DAE-ACFE-4D40-AA31-E46E8088DD6B}" destId="{75B443DF-4A09-436D-90FB-9CADA7BE5916}" srcOrd="2" destOrd="0" presId="urn:microsoft.com/office/officeart/2016/7/layout/RepeatingBendingProcessNew"/>
    <dgm:cxn modelId="{9D274946-7545-4B86-9CF1-120AB011809A}" type="presParOf" srcId="{FE995DAE-ACFE-4D40-AA31-E46E8088DD6B}" destId="{4A9FD192-F2F3-4089-84C5-744E87A63313}" srcOrd="3" destOrd="0" presId="urn:microsoft.com/office/officeart/2016/7/layout/RepeatingBendingProcessNew"/>
    <dgm:cxn modelId="{68988DA4-1247-482E-A7EA-4A5A5269F6E9}" type="presParOf" srcId="{4A9FD192-F2F3-4089-84C5-744E87A63313}" destId="{BB761D73-9B7A-415C-9217-D455F9B198CE}" srcOrd="0" destOrd="0" presId="urn:microsoft.com/office/officeart/2016/7/layout/RepeatingBendingProcessNew"/>
    <dgm:cxn modelId="{4772B4E7-98A3-4900-8418-8C2E9D792657}" type="presParOf" srcId="{FE995DAE-ACFE-4D40-AA31-E46E8088DD6B}" destId="{67DCEE86-F2FA-4B76-B8A2-3EBE28A21AE8}" srcOrd="4" destOrd="0" presId="urn:microsoft.com/office/officeart/2016/7/layout/RepeatingBendingProcessNew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DCDFDBE2-3C3B-4486-A102-471885BE31EC}" type="doc">
      <dgm:prSet loTypeId="urn:microsoft.com/office/officeart/2005/8/layout/vList2" loCatId="list" qsTypeId="urn:microsoft.com/office/officeart/2005/8/quickstyle/simple4" qsCatId="simple" csTypeId="urn:microsoft.com/office/officeart/2005/8/colors/colorful5" csCatId="colorful"/>
      <dgm:spPr/>
      <dgm:t>
        <a:bodyPr/>
        <a:lstStyle/>
        <a:p>
          <a:endParaRPr lang="en-US"/>
        </a:p>
      </dgm:t>
    </dgm:pt>
    <dgm:pt modelId="{1A9AD5BA-DAAE-4A54-AC76-BC1C5F95AD7B}">
      <dgm:prSet/>
      <dgm:spPr/>
      <dgm:t>
        <a:bodyPr/>
        <a:lstStyle/>
        <a:p>
          <a:r>
            <a:rPr lang="en-GB"/>
            <a:t>Prompt injection is a technique whereby carefully selecting and wording a prompt can cause a LLM to behave unexpectedly, bypass built in security measures and output something it shouldn’t which an attacker may want.</a:t>
          </a:r>
          <a:endParaRPr lang="en-US"/>
        </a:p>
      </dgm:t>
    </dgm:pt>
    <dgm:pt modelId="{42586F22-9669-4F3A-A7E5-D4A6D321EDA2}" type="parTrans" cxnId="{97130EBF-23CC-43F2-BAFE-577580B64904}">
      <dgm:prSet/>
      <dgm:spPr/>
      <dgm:t>
        <a:bodyPr/>
        <a:lstStyle/>
        <a:p>
          <a:endParaRPr lang="en-US"/>
        </a:p>
      </dgm:t>
    </dgm:pt>
    <dgm:pt modelId="{820A0104-7A67-4745-A527-C749EE610CC9}" type="sibTrans" cxnId="{97130EBF-23CC-43F2-BAFE-577580B64904}">
      <dgm:prSet/>
      <dgm:spPr/>
      <dgm:t>
        <a:bodyPr/>
        <a:lstStyle/>
        <a:p>
          <a:endParaRPr lang="en-US"/>
        </a:p>
      </dgm:t>
    </dgm:pt>
    <dgm:pt modelId="{E5795A40-2CC4-42F6-A693-65BAD35503CF}">
      <dgm:prSet/>
      <dgm:spPr/>
      <dgm:t>
        <a:bodyPr/>
        <a:lstStyle/>
        <a:p>
          <a:r>
            <a:rPr lang="en-GB"/>
            <a:t>Examples can include framing such as making the request appear like its necessary to save a dying grandma, encoding such as base64 or replacing text with 🅴 🅼 🅾 🅹 🅸 🆂 or exploiting safety concerns such as self-harm protections as well as many other techniques.</a:t>
          </a:r>
          <a:endParaRPr lang="en-US"/>
        </a:p>
      </dgm:t>
    </dgm:pt>
    <dgm:pt modelId="{865339F9-5CBC-4047-B0D2-B15404406A6E}" type="parTrans" cxnId="{87A0FA1C-9C4A-44C8-A600-5BC685A2C49A}">
      <dgm:prSet/>
      <dgm:spPr/>
      <dgm:t>
        <a:bodyPr/>
        <a:lstStyle/>
        <a:p>
          <a:endParaRPr lang="en-US"/>
        </a:p>
      </dgm:t>
    </dgm:pt>
    <dgm:pt modelId="{6128FAEA-1AEE-4ED5-8DB2-62497297228E}" type="sibTrans" cxnId="{87A0FA1C-9C4A-44C8-A600-5BC685A2C49A}">
      <dgm:prSet/>
      <dgm:spPr/>
      <dgm:t>
        <a:bodyPr/>
        <a:lstStyle/>
        <a:p>
          <a:endParaRPr lang="en-US"/>
        </a:p>
      </dgm:t>
    </dgm:pt>
    <dgm:pt modelId="{7B61CF7E-CF40-4237-BFAC-0BB387DFCF05}" type="pres">
      <dgm:prSet presAssocID="{DCDFDBE2-3C3B-4486-A102-471885BE31EC}" presName="linear" presStyleCnt="0">
        <dgm:presLayoutVars>
          <dgm:animLvl val="lvl"/>
          <dgm:resizeHandles val="exact"/>
        </dgm:presLayoutVars>
      </dgm:prSet>
      <dgm:spPr/>
    </dgm:pt>
    <dgm:pt modelId="{AF2DEBB6-93B1-45F4-A3BB-2AAB3A2C8E58}" type="pres">
      <dgm:prSet presAssocID="{1A9AD5BA-DAAE-4A54-AC76-BC1C5F95AD7B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361BDFF4-ACEC-4F3B-9747-BC36A30B10A5}" type="pres">
      <dgm:prSet presAssocID="{820A0104-7A67-4745-A527-C749EE610CC9}" presName="spacer" presStyleCnt="0"/>
      <dgm:spPr/>
    </dgm:pt>
    <dgm:pt modelId="{9E18EEB9-ECF3-408B-8EA4-96E3B0446017}" type="pres">
      <dgm:prSet presAssocID="{E5795A40-2CC4-42F6-A693-65BAD35503CF}" presName="parentText" presStyleLbl="node1" presStyleIdx="1" presStyleCnt="2">
        <dgm:presLayoutVars>
          <dgm:chMax val="0"/>
          <dgm:bulletEnabled val="1"/>
        </dgm:presLayoutVars>
      </dgm:prSet>
      <dgm:spPr/>
    </dgm:pt>
  </dgm:ptLst>
  <dgm:cxnLst>
    <dgm:cxn modelId="{87A0FA1C-9C4A-44C8-A600-5BC685A2C49A}" srcId="{DCDFDBE2-3C3B-4486-A102-471885BE31EC}" destId="{E5795A40-2CC4-42F6-A693-65BAD35503CF}" srcOrd="1" destOrd="0" parTransId="{865339F9-5CBC-4047-B0D2-B15404406A6E}" sibTransId="{6128FAEA-1AEE-4ED5-8DB2-62497297228E}"/>
    <dgm:cxn modelId="{64C06376-5B61-4821-9175-CF7AB0B45A46}" type="presOf" srcId="{E5795A40-2CC4-42F6-A693-65BAD35503CF}" destId="{9E18EEB9-ECF3-408B-8EA4-96E3B0446017}" srcOrd="0" destOrd="0" presId="urn:microsoft.com/office/officeart/2005/8/layout/vList2"/>
    <dgm:cxn modelId="{535C3F9B-7ED4-48C7-81F6-1997C7057566}" type="presOf" srcId="{DCDFDBE2-3C3B-4486-A102-471885BE31EC}" destId="{7B61CF7E-CF40-4237-BFAC-0BB387DFCF05}" srcOrd="0" destOrd="0" presId="urn:microsoft.com/office/officeart/2005/8/layout/vList2"/>
    <dgm:cxn modelId="{27C452BC-B325-4E70-8A73-556F85B3B6BD}" type="presOf" srcId="{1A9AD5BA-DAAE-4A54-AC76-BC1C5F95AD7B}" destId="{AF2DEBB6-93B1-45F4-A3BB-2AAB3A2C8E58}" srcOrd="0" destOrd="0" presId="urn:microsoft.com/office/officeart/2005/8/layout/vList2"/>
    <dgm:cxn modelId="{97130EBF-23CC-43F2-BAFE-577580B64904}" srcId="{DCDFDBE2-3C3B-4486-A102-471885BE31EC}" destId="{1A9AD5BA-DAAE-4A54-AC76-BC1C5F95AD7B}" srcOrd="0" destOrd="0" parTransId="{42586F22-9669-4F3A-A7E5-D4A6D321EDA2}" sibTransId="{820A0104-7A67-4745-A527-C749EE610CC9}"/>
    <dgm:cxn modelId="{53A1B7B3-04D5-45F4-899E-47F5ADE94F15}" type="presParOf" srcId="{7B61CF7E-CF40-4237-BFAC-0BB387DFCF05}" destId="{AF2DEBB6-93B1-45F4-A3BB-2AAB3A2C8E58}" srcOrd="0" destOrd="0" presId="urn:microsoft.com/office/officeart/2005/8/layout/vList2"/>
    <dgm:cxn modelId="{5770FBA8-F674-4522-A882-065E95CC2049}" type="presParOf" srcId="{7B61CF7E-CF40-4237-BFAC-0BB387DFCF05}" destId="{361BDFF4-ACEC-4F3B-9747-BC36A30B10A5}" srcOrd="1" destOrd="0" presId="urn:microsoft.com/office/officeart/2005/8/layout/vList2"/>
    <dgm:cxn modelId="{929274AA-510F-4AE3-9439-5B9C8B713C78}" type="presParOf" srcId="{7B61CF7E-CF40-4237-BFAC-0BB387DFCF05}" destId="{9E18EEB9-ECF3-408B-8EA4-96E3B0446017}" srcOrd="2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05545730-79DA-4FDE-8B15-000870509DFC}" type="doc">
      <dgm:prSet loTypeId="urn:microsoft.com/office/officeart/2005/8/layout/vList2" loCatId="list" qsTypeId="urn:microsoft.com/office/officeart/2005/8/quickstyle/simple4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DAE1F6C4-C676-423C-AB8A-4AF301F3094E}">
      <dgm:prSet/>
      <dgm:spPr/>
      <dgm:t>
        <a:bodyPr/>
        <a:lstStyle/>
        <a:p>
          <a:r>
            <a:rPr lang="en-GB"/>
            <a:t>Indirect prompt injection builds upon prompt injection as another method to bypass security restrictions placed upon a LLM by hiding the prompt within a non-text piece of data such as an image, voice or website.</a:t>
          </a:r>
          <a:endParaRPr lang="en-US"/>
        </a:p>
      </dgm:t>
    </dgm:pt>
    <dgm:pt modelId="{B349AB17-0F5C-477A-94E3-E48B2180200B}" type="parTrans" cxnId="{C50CFDD3-05E2-40D3-BD0B-9E97F2F34B7D}">
      <dgm:prSet/>
      <dgm:spPr/>
      <dgm:t>
        <a:bodyPr/>
        <a:lstStyle/>
        <a:p>
          <a:endParaRPr lang="en-US"/>
        </a:p>
      </dgm:t>
    </dgm:pt>
    <dgm:pt modelId="{A32CEB05-10A6-49AE-B87B-9D777C3CA882}" type="sibTrans" cxnId="{C50CFDD3-05E2-40D3-BD0B-9E97F2F34B7D}">
      <dgm:prSet/>
      <dgm:spPr/>
      <dgm:t>
        <a:bodyPr/>
        <a:lstStyle/>
        <a:p>
          <a:endParaRPr lang="en-US"/>
        </a:p>
      </dgm:t>
    </dgm:pt>
    <dgm:pt modelId="{B1A29B9F-4992-41A6-8B85-4F9AF95E91DE}">
      <dgm:prSet/>
      <dgm:spPr/>
      <dgm:t>
        <a:bodyPr/>
        <a:lstStyle/>
        <a:p>
          <a:r>
            <a:rPr lang="en-GB"/>
            <a:t>The advantage of this to the attacker is many security restrictions are designed to handle text  but are weaker at handling other forms of input, input initially treated as context/information or input retrieved from other locations i.e. web apps.</a:t>
          </a:r>
          <a:endParaRPr lang="en-US"/>
        </a:p>
      </dgm:t>
    </dgm:pt>
    <dgm:pt modelId="{FDB076F4-C1B4-4EBE-BD4B-ECCA33661BD3}" type="parTrans" cxnId="{B5B2F3C9-2F4E-41FB-A0F5-3E8F6E319447}">
      <dgm:prSet/>
      <dgm:spPr/>
      <dgm:t>
        <a:bodyPr/>
        <a:lstStyle/>
        <a:p>
          <a:endParaRPr lang="en-US"/>
        </a:p>
      </dgm:t>
    </dgm:pt>
    <dgm:pt modelId="{42707A6A-44D1-4639-9B56-E28B772EC7B4}" type="sibTrans" cxnId="{B5B2F3C9-2F4E-41FB-A0F5-3E8F6E319447}">
      <dgm:prSet/>
      <dgm:spPr/>
      <dgm:t>
        <a:bodyPr/>
        <a:lstStyle/>
        <a:p>
          <a:endParaRPr lang="en-US"/>
        </a:p>
      </dgm:t>
    </dgm:pt>
    <dgm:pt modelId="{56FAC97C-A9E6-44BF-83FF-069F1615A1A9}" type="pres">
      <dgm:prSet presAssocID="{05545730-79DA-4FDE-8B15-000870509DFC}" presName="linear" presStyleCnt="0">
        <dgm:presLayoutVars>
          <dgm:animLvl val="lvl"/>
          <dgm:resizeHandles val="exact"/>
        </dgm:presLayoutVars>
      </dgm:prSet>
      <dgm:spPr/>
    </dgm:pt>
    <dgm:pt modelId="{9DE1BB00-D0CF-47AC-8873-983A81477BD3}" type="pres">
      <dgm:prSet presAssocID="{DAE1F6C4-C676-423C-AB8A-4AF301F3094E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8017F2C5-971E-4D69-8A64-93253AAF9512}" type="pres">
      <dgm:prSet presAssocID="{A32CEB05-10A6-49AE-B87B-9D777C3CA882}" presName="spacer" presStyleCnt="0"/>
      <dgm:spPr/>
    </dgm:pt>
    <dgm:pt modelId="{CCA806FF-9AE0-4D71-86D4-57580173E3AD}" type="pres">
      <dgm:prSet presAssocID="{B1A29B9F-4992-41A6-8B85-4F9AF95E91DE}" presName="parentText" presStyleLbl="node1" presStyleIdx="1" presStyleCnt="2">
        <dgm:presLayoutVars>
          <dgm:chMax val="0"/>
          <dgm:bulletEnabled val="1"/>
        </dgm:presLayoutVars>
      </dgm:prSet>
      <dgm:spPr/>
    </dgm:pt>
  </dgm:ptLst>
  <dgm:cxnLst>
    <dgm:cxn modelId="{94825310-E960-4812-AF4A-D359527BA02E}" type="presOf" srcId="{B1A29B9F-4992-41A6-8B85-4F9AF95E91DE}" destId="{CCA806FF-9AE0-4D71-86D4-57580173E3AD}" srcOrd="0" destOrd="0" presId="urn:microsoft.com/office/officeart/2005/8/layout/vList2"/>
    <dgm:cxn modelId="{B5B2F3C9-2F4E-41FB-A0F5-3E8F6E319447}" srcId="{05545730-79DA-4FDE-8B15-000870509DFC}" destId="{B1A29B9F-4992-41A6-8B85-4F9AF95E91DE}" srcOrd="1" destOrd="0" parTransId="{FDB076F4-C1B4-4EBE-BD4B-ECCA33661BD3}" sibTransId="{42707A6A-44D1-4639-9B56-E28B772EC7B4}"/>
    <dgm:cxn modelId="{C50CFDD3-05E2-40D3-BD0B-9E97F2F34B7D}" srcId="{05545730-79DA-4FDE-8B15-000870509DFC}" destId="{DAE1F6C4-C676-423C-AB8A-4AF301F3094E}" srcOrd="0" destOrd="0" parTransId="{B349AB17-0F5C-477A-94E3-E48B2180200B}" sibTransId="{A32CEB05-10A6-49AE-B87B-9D777C3CA882}"/>
    <dgm:cxn modelId="{489472ED-8FAA-462A-B92A-1C01A7B5C50B}" type="presOf" srcId="{05545730-79DA-4FDE-8B15-000870509DFC}" destId="{56FAC97C-A9E6-44BF-83FF-069F1615A1A9}" srcOrd="0" destOrd="0" presId="urn:microsoft.com/office/officeart/2005/8/layout/vList2"/>
    <dgm:cxn modelId="{FD511CF0-652A-40B2-A253-D43100AAEF2A}" type="presOf" srcId="{DAE1F6C4-C676-423C-AB8A-4AF301F3094E}" destId="{9DE1BB00-D0CF-47AC-8873-983A81477BD3}" srcOrd="0" destOrd="0" presId="urn:microsoft.com/office/officeart/2005/8/layout/vList2"/>
    <dgm:cxn modelId="{9923B43D-8774-4BCB-A244-EF6E4A300A76}" type="presParOf" srcId="{56FAC97C-A9E6-44BF-83FF-069F1615A1A9}" destId="{9DE1BB00-D0CF-47AC-8873-983A81477BD3}" srcOrd="0" destOrd="0" presId="urn:microsoft.com/office/officeart/2005/8/layout/vList2"/>
    <dgm:cxn modelId="{C4A15321-081C-4C12-9C51-3622005B62C0}" type="presParOf" srcId="{56FAC97C-A9E6-44BF-83FF-069F1615A1A9}" destId="{8017F2C5-971E-4D69-8A64-93253AAF9512}" srcOrd="1" destOrd="0" presId="urn:microsoft.com/office/officeart/2005/8/layout/vList2"/>
    <dgm:cxn modelId="{47830A43-1395-4290-A8CF-D33083B90932}" type="presParOf" srcId="{56FAC97C-A9E6-44BF-83FF-069F1615A1A9}" destId="{CCA806FF-9AE0-4D71-86D4-57580173E3AD}" srcOrd="2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9D1C286F-612D-4C60-A80D-28333D91FDBE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D368179C-E9C5-47BC-9367-C7E547BE88E6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GB" sz="1400" dirty="0"/>
            <a:t>With the ever developing space of AI and specifically LLM’s, there is a constant threat of attack chains originating through LLM’s.</a:t>
          </a:r>
          <a:endParaRPr lang="en-US" sz="1400" dirty="0"/>
        </a:p>
      </dgm:t>
    </dgm:pt>
    <dgm:pt modelId="{F18DED8A-DC88-43E2-B208-E1402F2F1FD0}" type="parTrans" cxnId="{DF1DA22C-E825-4FB6-8448-A8B2CF3FDC5E}">
      <dgm:prSet/>
      <dgm:spPr/>
      <dgm:t>
        <a:bodyPr/>
        <a:lstStyle/>
        <a:p>
          <a:endParaRPr lang="en-US"/>
        </a:p>
      </dgm:t>
    </dgm:pt>
    <dgm:pt modelId="{510D74BB-8A9A-48B9-BE7A-828F8B5B8549}" type="sibTrans" cxnId="{DF1DA22C-E825-4FB6-8448-A8B2CF3FDC5E}">
      <dgm:prSet/>
      <dgm:spPr/>
      <dgm:t>
        <a:bodyPr/>
        <a:lstStyle/>
        <a:p>
          <a:endParaRPr lang="en-US"/>
        </a:p>
      </dgm:t>
    </dgm:pt>
    <dgm:pt modelId="{F56B8600-CE85-42AB-946A-4E33BD7BBF1E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GB" sz="1400" dirty="0"/>
            <a:t>Resulting from the high speed development of these LLM’s there are constantly new features being developed, often with little security concern.</a:t>
          </a:r>
          <a:endParaRPr lang="en-US" sz="1400" dirty="0"/>
        </a:p>
      </dgm:t>
    </dgm:pt>
    <dgm:pt modelId="{F40021BE-F238-4F37-B9AF-B6CD78E6805C}" type="parTrans" cxnId="{1E5837C9-F996-4904-A946-6D2741318D1B}">
      <dgm:prSet/>
      <dgm:spPr/>
      <dgm:t>
        <a:bodyPr/>
        <a:lstStyle/>
        <a:p>
          <a:endParaRPr lang="en-US"/>
        </a:p>
      </dgm:t>
    </dgm:pt>
    <dgm:pt modelId="{609CCC6F-6DCF-478A-B865-51C22CFB1F88}" type="sibTrans" cxnId="{1E5837C9-F996-4904-A946-6D2741318D1B}">
      <dgm:prSet/>
      <dgm:spPr/>
      <dgm:t>
        <a:bodyPr/>
        <a:lstStyle/>
        <a:p>
          <a:endParaRPr lang="en-US"/>
        </a:p>
      </dgm:t>
    </dgm:pt>
    <dgm:pt modelId="{B72C1A47-22C2-4583-95E1-274FFB6019C1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GB" sz="1400" dirty="0"/>
            <a:t>A staggeringly low amount of research (~10 papers) into web app indirect prompt injection, especially web based attacks results in low awareness and practical security in this area.</a:t>
          </a:r>
          <a:endParaRPr lang="en-US" sz="1400" dirty="0"/>
        </a:p>
      </dgm:t>
    </dgm:pt>
    <dgm:pt modelId="{2C094F1C-4754-48D5-BFA2-1ABFD0AC601A}" type="parTrans" cxnId="{18A951D8-1709-4955-AE49-86CA081738C8}">
      <dgm:prSet/>
      <dgm:spPr/>
      <dgm:t>
        <a:bodyPr/>
        <a:lstStyle/>
        <a:p>
          <a:endParaRPr lang="en-US"/>
        </a:p>
      </dgm:t>
    </dgm:pt>
    <dgm:pt modelId="{45977159-1CB1-440E-B843-7E79915F6BD5}" type="sibTrans" cxnId="{18A951D8-1709-4955-AE49-86CA081738C8}">
      <dgm:prSet/>
      <dgm:spPr/>
      <dgm:t>
        <a:bodyPr/>
        <a:lstStyle/>
        <a:p>
          <a:endParaRPr lang="en-US"/>
        </a:p>
      </dgm:t>
    </dgm:pt>
    <dgm:pt modelId="{A522715D-B35B-47A6-8C98-CF8046547BD6}" type="pres">
      <dgm:prSet presAssocID="{9D1C286F-612D-4C60-A80D-28333D91FDBE}" presName="root" presStyleCnt="0">
        <dgm:presLayoutVars>
          <dgm:dir/>
          <dgm:resizeHandles val="exact"/>
        </dgm:presLayoutVars>
      </dgm:prSet>
      <dgm:spPr/>
    </dgm:pt>
    <dgm:pt modelId="{380B9B8F-9C8A-4639-81F9-61FB11922A09}" type="pres">
      <dgm:prSet presAssocID="{D368179C-E9C5-47BC-9367-C7E547BE88E6}" presName="compNode" presStyleCnt="0"/>
      <dgm:spPr/>
    </dgm:pt>
    <dgm:pt modelId="{55234B74-66D3-4DF4-840A-D22F3CEECFE7}" type="pres">
      <dgm:prSet presAssocID="{D368179C-E9C5-47BC-9367-C7E547BE88E6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ocessor"/>
        </a:ext>
      </dgm:extLst>
    </dgm:pt>
    <dgm:pt modelId="{94D3E750-B255-4A09-BD25-E68FF3DECBB6}" type="pres">
      <dgm:prSet presAssocID="{D368179C-E9C5-47BC-9367-C7E547BE88E6}" presName="spaceRect" presStyleCnt="0"/>
      <dgm:spPr/>
    </dgm:pt>
    <dgm:pt modelId="{FC1AE8C0-5773-496A-A023-51C15C241754}" type="pres">
      <dgm:prSet presAssocID="{D368179C-E9C5-47BC-9367-C7E547BE88E6}" presName="textRect" presStyleLbl="revTx" presStyleIdx="0" presStyleCnt="3">
        <dgm:presLayoutVars>
          <dgm:chMax val="1"/>
          <dgm:chPref val="1"/>
        </dgm:presLayoutVars>
      </dgm:prSet>
      <dgm:spPr/>
    </dgm:pt>
    <dgm:pt modelId="{59061EEF-9D06-4B40-B98D-E9B30907702C}" type="pres">
      <dgm:prSet presAssocID="{510D74BB-8A9A-48B9-BE7A-828F8B5B8549}" presName="sibTrans" presStyleCnt="0"/>
      <dgm:spPr/>
    </dgm:pt>
    <dgm:pt modelId="{8C911CE6-2D9B-4427-83BB-299C0C2F1334}" type="pres">
      <dgm:prSet presAssocID="{F56B8600-CE85-42AB-946A-4E33BD7BBF1E}" presName="compNode" presStyleCnt="0"/>
      <dgm:spPr/>
    </dgm:pt>
    <dgm:pt modelId="{8F757CCE-3B1D-40DF-A575-BEE8DC326FD8}" type="pres">
      <dgm:prSet presAssocID="{F56B8600-CE85-42AB-946A-4E33BD7BBF1E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isconnected"/>
        </a:ext>
      </dgm:extLst>
    </dgm:pt>
    <dgm:pt modelId="{02750335-A8A4-4FD2-BBE7-0606ADBD34DC}" type="pres">
      <dgm:prSet presAssocID="{F56B8600-CE85-42AB-946A-4E33BD7BBF1E}" presName="spaceRect" presStyleCnt="0"/>
      <dgm:spPr/>
    </dgm:pt>
    <dgm:pt modelId="{F973DA5A-AACF-48BC-9594-BE3DC0752A9B}" type="pres">
      <dgm:prSet presAssocID="{F56B8600-CE85-42AB-946A-4E33BD7BBF1E}" presName="textRect" presStyleLbl="revTx" presStyleIdx="1" presStyleCnt="3">
        <dgm:presLayoutVars>
          <dgm:chMax val="1"/>
          <dgm:chPref val="1"/>
        </dgm:presLayoutVars>
      </dgm:prSet>
      <dgm:spPr/>
    </dgm:pt>
    <dgm:pt modelId="{E1106BE6-07F4-4A9D-ABC5-2B083191D441}" type="pres">
      <dgm:prSet presAssocID="{609CCC6F-6DCF-478A-B865-51C22CFB1F88}" presName="sibTrans" presStyleCnt="0"/>
      <dgm:spPr/>
    </dgm:pt>
    <dgm:pt modelId="{F3F14663-0BB9-43AD-84B2-4AA93A6B675C}" type="pres">
      <dgm:prSet presAssocID="{B72C1A47-22C2-4583-95E1-274FFB6019C1}" presName="compNode" presStyleCnt="0"/>
      <dgm:spPr/>
    </dgm:pt>
    <dgm:pt modelId="{C0B9D871-BD5E-4EEB-A7EC-6544DBA63695}" type="pres">
      <dgm:prSet presAssocID="{B72C1A47-22C2-4583-95E1-274FFB6019C1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Lady bug"/>
        </a:ext>
      </dgm:extLst>
    </dgm:pt>
    <dgm:pt modelId="{741FD142-850D-4223-B32E-3D4EC423D404}" type="pres">
      <dgm:prSet presAssocID="{B72C1A47-22C2-4583-95E1-274FFB6019C1}" presName="spaceRect" presStyleCnt="0"/>
      <dgm:spPr/>
    </dgm:pt>
    <dgm:pt modelId="{C5103AAB-0CED-4A0F-ABEA-A5E24C32004D}" type="pres">
      <dgm:prSet presAssocID="{B72C1A47-22C2-4583-95E1-274FFB6019C1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F5DA5E27-4502-4049-A939-8BE81D835E0B}" type="presOf" srcId="{F56B8600-CE85-42AB-946A-4E33BD7BBF1E}" destId="{F973DA5A-AACF-48BC-9594-BE3DC0752A9B}" srcOrd="0" destOrd="0" presId="urn:microsoft.com/office/officeart/2018/2/layout/IconLabelList"/>
    <dgm:cxn modelId="{DF1DA22C-E825-4FB6-8448-A8B2CF3FDC5E}" srcId="{9D1C286F-612D-4C60-A80D-28333D91FDBE}" destId="{D368179C-E9C5-47BC-9367-C7E547BE88E6}" srcOrd="0" destOrd="0" parTransId="{F18DED8A-DC88-43E2-B208-E1402F2F1FD0}" sibTransId="{510D74BB-8A9A-48B9-BE7A-828F8B5B8549}"/>
    <dgm:cxn modelId="{F5FF5DB8-DDE1-4AC2-AF04-DE12B44828B8}" type="presOf" srcId="{D368179C-E9C5-47BC-9367-C7E547BE88E6}" destId="{FC1AE8C0-5773-496A-A023-51C15C241754}" srcOrd="0" destOrd="0" presId="urn:microsoft.com/office/officeart/2018/2/layout/IconLabelList"/>
    <dgm:cxn modelId="{1E5837C9-F996-4904-A946-6D2741318D1B}" srcId="{9D1C286F-612D-4C60-A80D-28333D91FDBE}" destId="{F56B8600-CE85-42AB-946A-4E33BD7BBF1E}" srcOrd="1" destOrd="0" parTransId="{F40021BE-F238-4F37-B9AF-B6CD78E6805C}" sibTransId="{609CCC6F-6DCF-478A-B865-51C22CFB1F88}"/>
    <dgm:cxn modelId="{18A951D8-1709-4955-AE49-86CA081738C8}" srcId="{9D1C286F-612D-4C60-A80D-28333D91FDBE}" destId="{B72C1A47-22C2-4583-95E1-274FFB6019C1}" srcOrd="2" destOrd="0" parTransId="{2C094F1C-4754-48D5-BFA2-1ABFD0AC601A}" sibTransId="{45977159-1CB1-440E-B843-7E79915F6BD5}"/>
    <dgm:cxn modelId="{13792EE1-7334-4692-BD19-33E8E7AC8391}" type="presOf" srcId="{9D1C286F-612D-4C60-A80D-28333D91FDBE}" destId="{A522715D-B35B-47A6-8C98-CF8046547BD6}" srcOrd="0" destOrd="0" presId="urn:microsoft.com/office/officeart/2018/2/layout/IconLabelList"/>
    <dgm:cxn modelId="{56C8FCF1-575E-4C7A-9A64-7A664917188E}" type="presOf" srcId="{B72C1A47-22C2-4583-95E1-274FFB6019C1}" destId="{C5103AAB-0CED-4A0F-ABEA-A5E24C32004D}" srcOrd="0" destOrd="0" presId="urn:microsoft.com/office/officeart/2018/2/layout/IconLabelList"/>
    <dgm:cxn modelId="{341B188D-8AC7-49F0-BA8E-0D6F5D46DCEE}" type="presParOf" srcId="{A522715D-B35B-47A6-8C98-CF8046547BD6}" destId="{380B9B8F-9C8A-4639-81F9-61FB11922A09}" srcOrd="0" destOrd="0" presId="urn:microsoft.com/office/officeart/2018/2/layout/IconLabelList"/>
    <dgm:cxn modelId="{5D809CCE-A325-47A1-9176-AC8C3799FDB8}" type="presParOf" srcId="{380B9B8F-9C8A-4639-81F9-61FB11922A09}" destId="{55234B74-66D3-4DF4-840A-D22F3CEECFE7}" srcOrd="0" destOrd="0" presId="urn:microsoft.com/office/officeart/2018/2/layout/IconLabelList"/>
    <dgm:cxn modelId="{8FDEAAA2-A515-4F09-9239-0E81431AC736}" type="presParOf" srcId="{380B9B8F-9C8A-4639-81F9-61FB11922A09}" destId="{94D3E750-B255-4A09-BD25-E68FF3DECBB6}" srcOrd="1" destOrd="0" presId="urn:microsoft.com/office/officeart/2018/2/layout/IconLabelList"/>
    <dgm:cxn modelId="{C87B72B3-FBB5-4E4A-B6CE-CEDDCB631B17}" type="presParOf" srcId="{380B9B8F-9C8A-4639-81F9-61FB11922A09}" destId="{FC1AE8C0-5773-496A-A023-51C15C241754}" srcOrd="2" destOrd="0" presId="urn:microsoft.com/office/officeart/2018/2/layout/IconLabelList"/>
    <dgm:cxn modelId="{4EED93F0-AFE0-401F-BF70-E160C7B8B005}" type="presParOf" srcId="{A522715D-B35B-47A6-8C98-CF8046547BD6}" destId="{59061EEF-9D06-4B40-B98D-E9B30907702C}" srcOrd="1" destOrd="0" presId="urn:microsoft.com/office/officeart/2018/2/layout/IconLabelList"/>
    <dgm:cxn modelId="{83B93B41-97BE-4C7B-9C57-6EC38D610766}" type="presParOf" srcId="{A522715D-B35B-47A6-8C98-CF8046547BD6}" destId="{8C911CE6-2D9B-4427-83BB-299C0C2F1334}" srcOrd="2" destOrd="0" presId="urn:microsoft.com/office/officeart/2018/2/layout/IconLabelList"/>
    <dgm:cxn modelId="{C58744E4-AAA0-4528-BD37-93B74BE21AD3}" type="presParOf" srcId="{8C911CE6-2D9B-4427-83BB-299C0C2F1334}" destId="{8F757CCE-3B1D-40DF-A575-BEE8DC326FD8}" srcOrd="0" destOrd="0" presId="urn:microsoft.com/office/officeart/2018/2/layout/IconLabelList"/>
    <dgm:cxn modelId="{652F660F-E53E-4C17-BAC6-C1AAA2B8F093}" type="presParOf" srcId="{8C911CE6-2D9B-4427-83BB-299C0C2F1334}" destId="{02750335-A8A4-4FD2-BBE7-0606ADBD34DC}" srcOrd="1" destOrd="0" presId="urn:microsoft.com/office/officeart/2018/2/layout/IconLabelList"/>
    <dgm:cxn modelId="{103F35A1-A91E-4805-A01E-76589B3307C2}" type="presParOf" srcId="{8C911CE6-2D9B-4427-83BB-299C0C2F1334}" destId="{F973DA5A-AACF-48BC-9594-BE3DC0752A9B}" srcOrd="2" destOrd="0" presId="urn:microsoft.com/office/officeart/2018/2/layout/IconLabelList"/>
    <dgm:cxn modelId="{6BDECE0D-568D-4663-A02C-C0FC6DFCE738}" type="presParOf" srcId="{A522715D-B35B-47A6-8C98-CF8046547BD6}" destId="{E1106BE6-07F4-4A9D-ABC5-2B083191D441}" srcOrd="3" destOrd="0" presId="urn:microsoft.com/office/officeart/2018/2/layout/IconLabelList"/>
    <dgm:cxn modelId="{6D01EC16-6932-4EA4-A5E0-13CF2A13852E}" type="presParOf" srcId="{A522715D-B35B-47A6-8C98-CF8046547BD6}" destId="{F3F14663-0BB9-43AD-84B2-4AA93A6B675C}" srcOrd="4" destOrd="0" presId="urn:microsoft.com/office/officeart/2018/2/layout/IconLabelList"/>
    <dgm:cxn modelId="{1CA3240C-3CE7-49BC-B262-3BDF20E52042}" type="presParOf" srcId="{F3F14663-0BB9-43AD-84B2-4AA93A6B675C}" destId="{C0B9D871-BD5E-4EEB-A7EC-6544DBA63695}" srcOrd="0" destOrd="0" presId="urn:microsoft.com/office/officeart/2018/2/layout/IconLabelList"/>
    <dgm:cxn modelId="{550DD73D-320C-48BB-882F-EEE8502051BB}" type="presParOf" srcId="{F3F14663-0BB9-43AD-84B2-4AA93A6B675C}" destId="{741FD142-850D-4223-B32E-3D4EC423D404}" srcOrd="1" destOrd="0" presId="urn:microsoft.com/office/officeart/2018/2/layout/IconLabelList"/>
    <dgm:cxn modelId="{0C0C1316-0D13-4807-B2D8-5E95BA5AFECD}" type="presParOf" srcId="{F3F14663-0BB9-43AD-84B2-4AA93A6B675C}" destId="{C5103AAB-0CED-4A0F-ABEA-A5E24C32004D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B2B905F0-E8FA-4206-8C28-B2491861C010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077705D9-D1A5-455B-B1A5-8B1AAE957031}">
      <dgm:prSet custT="1"/>
      <dgm:spPr/>
      <dgm:t>
        <a:bodyPr/>
        <a:lstStyle/>
        <a:p>
          <a:r>
            <a:rPr lang="en-GB" sz="1400" dirty="0"/>
            <a:t>Research into this topic yielded very limited academic work into this area with many of the more recent pieces of work being based off of </a:t>
          </a:r>
          <a:r>
            <a:rPr lang="en-GB" sz="1400" dirty="0" err="1"/>
            <a:t>Greshake</a:t>
          </a:r>
          <a:r>
            <a:rPr lang="en-GB" sz="1400" dirty="0"/>
            <a:t> et al</a:t>
          </a:r>
          <a:endParaRPr lang="en-US" sz="1400" dirty="0"/>
        </a:p>
      </dgm:t>
    </dgm:pt>
    <dgm:pt modelId="{C8E0C4CE-C6E6-4372-A922-8D838978E0C1}" type="parTrans" cxnId="{E575D26F-D362-4371-B041-560281299545}">
      <dgm:prSet/>
      <dgm:spPr/>
      <dgm:t>
        <a:bodyPr/>
        <a:lstStyle/>
        <a:p>
          <a:endParaRPr lang="en-US"/>
        </a:p>
      </dgm:t>
    </dgm:pt>
    <dgm:pt modelId="{F8F40277-0706-4913-AF0F-82135129527D}" type="sibTrans" cxnId="{E575D26F-D362-4371-B041-560281299545}">
      <dgm:prSet/>
      <dgm:spPr/>
      <dgm:t>
        <a:bodyPr/>
        <a:lstStyle/>
        <a:p>
          <a:endParaRPr lang="en-US"/>
        </a:p>
      </dgm:t>
    </dgm:pt>
    <dgm:pt modelId="{FA663042-8381-41D0-A8A7-C7D7440D2009}">
      <dgm:prSet/>
      <dgm:spPr/>
      <dgm:t>
        <a:bodyPr/>
        <a:lstStyle/>
        <a:p>
          <a:r>
            <a:rPr lang="en-GB" dirty="0"/>
            <a:t>The theory of these techniques was strongly established in </a:t>
          </a:r>
          <a:r>
            <a:rPr lang="en-GB" dirty="0" err="1"/>
            <a:t>Greshake</a:t>
          </a:r>
          <a:r>
            <a:rPr lang="en-GB" dirty="0"/>
            <a:t> et al with some additionally being added in other papers along with some practical proof of concepts albeit quite limited</a:t>
          </a:r>
          <a:endParaRPr lang="en-US" dirty="0"/>
        </a:p>
      </dgm:t>
    </dgm:pt>
    <dgm:pt modelId="{3C8E0F77-E3C9-4675-BDB5-1FAF2F176085}" type="parTrans" cxnId="{41D47C34-973D-4B29-9B61-00267C424985}">
      <dgm:prSet/>
      <dgm:spPr/>
      <dgm:t>
        <a:bodyPr/>
        <a:lstStyle/>
        <a:p>
          <a:endParaRPr lang="en-US"/>
        </a:p>
      </dgm:t>
    </dgm:pt>
    <dgm:pt modelId="{40DCBF32-E1C8-48AE-8F3B-6178CC731D4D}" type="sibTrans" cxnId="{41D47C34-973D-4B29-9B61-00267C424985}">
      <dgm:prSet/>
      <dgm:spPr/>
      <dgm:t>
        <a:bodyPr/>
        <a:lstStyle/>
        <a:p>
          <a:endParaRPr lang="en-US"/>
        </a:p>
      </dgm:t>
    </dgm:pt>
    <dgm:pt modelId="{58B8BD74-427E-49E1-9287-D133B5FF09CA}" type="pres">
      <dgm:prSet presAssocID="{B2B905F0-E8FA-4206-8C28-B2491861C010}" presName="root" presStyleCnt="0">
        <dgm:presLayoutVars>
          <dgm:dir/>
          <dgm:resizeHandles val="exact"/>
        </dgm:presLayoutVars>
      </dgm:prSet>
      <dgm:spPr/>
    </dgm:pt>
    <dgm:pt modelId="{DF85E701-6D02-4AFC-8C5C-4865454D3584}" type="pres">
      <dgm:prSet presAssocID="{077705D9-D1A5-455B-B1A5-8B1AAE957031}" presName="compNode" presStyleCnt="0"/>
      <dgm:spPr/>
    </dgm:pt>
    <dgm:pt modelId="{FDCE6D06-9F3D-4E3A-8CF4-2B3568A2803A}" type="pres">
      <dgm:prSet presAssocID="{077705D9-D1A5-455B-B1A5-8B1AAE957031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ooks"/>
        </a:ext>
      </dgm:extLst>
    </dgm:pt>
    <dgm:pt modelId="{E37FADEC-92C4-4155-B213-AD92F5438767}" type="pres">
      <dgm:prSet presAssocID="{077705D9-D1A5-455B-B1A5-8B1AAE957031}" presName="spaceRect" presStyleCnt="0"/>
      <dgm:spPr/>
    </dgm:pt>
    <dgm:pt modelId="{D36BD79D-DCE0-40AA-B61E-C15B65140B61}" type="pres">
      <dgm:prSet presAssocID="{077705D9-D1A5-455B-B1A5-8B1AAE957031}" presName="textRect" presStyleLbl="revTx" presStyleIdx="0" presStyleCnt="2">
        <dgm:presLayoutVars>
          <dgm:chMax val="1"/>
          <dgm:chPref val="1"/>
        </dgm:presLayoutVars>
      </dgm:prSet>
      <dgm:spPr/>
    </dgm:pt>
    <dgm:pt modelId="{9699AF83-ECB8-46CF-9FF8-8DD528427C8F}" type="pres">
      <dgm:prSet presAssocID="{F8F40277-0706-4913-AF0F-82135129527D}" presName="sibTrans" presStyleCnt="0"/>
      <dgm:spPr/>
    </dgm:pt>
    <dgm:pt modelId="{6D897391-AD52-4CBA-8FB7-3FD934D997F9}" type="pres">
      <dgm:prSet presAssocID="{FA663042-8381-41D0-A8A7-C7D7440D2009}" presName="compNode" presStyleCnt="0"/>
      <dgm:spPr/>
    </dgm:pt>
    <dgm:pt modelId="{DFA4A568-0574-4CA9-8A8F-C8C5458B0290}" type="pres">
      <dgm:prSet presAssocID="{FA663042-8381-41D0-A8A7-C7D7440D2009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Light Bulb and Gear"/>
        </a:ext>
      </dgm:extLst>
    </dgm:pt>
    <dgm:pt modelId="{33FFD129-6742-41EF-B618-1B460E00D3CA}" type="pres">
      <dgm:prSet presAssocID="{FA663042-8381-41D0-A8A7-C7D7440D2009}" presName="spaceRect" presStyleCnt="0"/>
      <dgm:spPr/>
    </dgm:pt>
    <dgm:pt modelId="{ACDD0AD0-14FB-425E-84DB-D03F80F3227C}" type="pres">
      <dgm:prSet presAssocID="{FA663042-8381-41D0-A8A7-C7D7440D2009}" presName="textRect" presStyleLbl="revTx" presStyleIdx="1" presStyleCnt="2">
        <dgm:presLayoutVars>
          <dgm:chMax val="1"/>
          <dgm:chPref val="1"/>
        </dgm:presLayoutVars>
      </dgm:prSet>
      <dgm:spPr/>
    </dgm:pt>
  </dgm:ptLst>
  <dgm:cxnLst>
    <dgm:cxn modelId="{2E6A2E27-B84A-4538-8F76-23645D9E1FEE}" type="presOf" srcId="{FA663042-8381-41D0-A8A7-C7D7440D2009}" destId="{ACDD0AD0-14FB-425E-84DB-D03F80F3227C}" srcOrd="0" destOrd="0" presId="urn:microsoft.com/office/officeart/2018/2/layout/IconLabelList"/>
    <dgm:cxn modelId="{41D47C34-973D-4B29-9B61-00267C424985}" srcId="{B2B905F0-E8FA-4206-8C28-B2491861C010}" destId="{FA663042-8381-41D0-A8A7-C7D7440D2009}" srcOrd="1" destOrd="0" parTransId="{3C8E0F77-E3C9-4675-BDB5-1FAF2F176085}" sibTransId="{40DCBF32-E1C8-48AE-8F3B-6178CC731D4D}"/>
    <dgm:cxn modelId="{E575D26F-D362-4371-B041-560281299545}" srcId="{B2B905F0-E8FA-4206-8C28-B2491861C010}" destId="{077705D9-D1A5-455B-B1A5-8B1AAE957031}" srcOrd="0" destOrd="0" parTransId="{C8E0C4CE-C6E6-4372-A922-8D838978E0C1}" sibTransId="{F8F40277-0706-4913-AF0F-82135129527D}"/>
    <dgm:cxn modelId="{C18F39AA-2D14-4652-A6B3-E0991C45FEE4}" type="presOf" srcId="{B2B905F0-E8FA-4206-8C28-B2491861C010}" destId="{58B8BD74-427E-49E1-9287-D133B5FF09CA}" srcOrd="0" destOrd="0" presId="urn:microsoft.com/office/officeart/2018/2/layout/IconLabelList"/>
    <dgm:cxn modelId="{C10235FD-7371-4314-8848-10F3F20A13D0}" type="presOf" srcId="{077705D9-D1A5-455B-B1A5-8B1AAE957031}" destId="{D36BD79D-DCE0-40AA-B61E-C15B65140B61}" srcOrd="0" destOrd="0" presId="urn:microsoft.com/office/officeart/2018/2/layout/IconLabelList"/>
    <dgm:cxn modelId="{A42C8EF1-FE9D-426B-B1EF-1D0254FFFE12}" type="presParOf" srcId="{58B8BD74-427E-49E1-9287-D133B5FF09CA}" destId="{DF85E701-6D02-4AFC-8C5C-4865454D3584}" srcOrd="0" destOrd="0" presId="urn:microsoft.com/office/officeart/2018/2/layout/IconLabelList"/>
    <dgm:cxn modelId="{BCF0E6ED-0034-4A6E-B986-77B71BDF3EE2}" type="presParOf" srcId="{DF85E701-6D02-4AFC-8C5C-4865454D3584}" destId="{FDCE6D06-9F3D-4E3A-8CF4-2B3568A2803A}" srcOrd="0" destOrd="0" presId="urn:microsoft.com/office/officeart/2018/2/layout/IconLabelList"/>
    <dgm:cxn modelId="{41926490-5724-43CF-A1A8-5B12D0F253C1}" type="presParOf" srcId="{DF85E701-6D02-4AFC-8C5C-4865454D3584}" destId="{E37FADEC-92C4-4155-B213-AD92F5438767}" srcOrd="1" destOrd="0" presId="urn:microsoft.com/office/officeart/2018/2/layout/IconLabelList"/>
    <dgm:cxn modelId="{1055CFB2-B383-4B56-BAD6-CDE052001F76}" type="presParOf" srcId="{DF85E701-6D02-4AFC-8C5C-4865454D3584}" destId="{D36BD79D-DCE0-40AA-B61E-C15B65140B61}" srcOrd="2" destOrd="0" presId="urn:microsoft.com/office/officeart/2018/2/layout/IconLabelList"/>
    <dgm:cxn modelId="{EC3D259A-0CB2-4DC8-9AEA-45A16F7BAE20}" type="presParOf" srcId="{58B8BD74-427E-49E1-9287-D133B5FF09CA}" destId="{9699AF83-ECB8-46CF-9FF8-8DD528427C8F}" srcOrd="1" destOrd="0" presId="urn:microsoft.com/office/officeart/2018/2/layout/IconLabelList"/>
    <dgm:cxn modelId="{5590AC4F-0C69-4C03-9728-0D83090A3578}" type="presParOf" srcId="{58B8BD74-427E-49E1-9287-D133B5FF09CA}" destId="{6D897391-AD52-4CBA-8FB7-3FD934D997F9}" srcOrd="2" destOrd="0" presId="urn:microsoft.com/office/officeart/2018/2/layout/IconLabelList"/>
    <dgm:cxn modelId="{460EE443-D759-4680-86DA-B8F7ED56B15A}" type="presParOf" srcId="{6D897391-AD52-4CBA-8FB7-3FD934D997F9}" destId="{DFA4A568-0574-4CA9-8A8F-C8C5458B0290}" srcOrd="0" destOrd="0" presId="urn:microsoft.com/office/officeart/2018/2/layout/IconLabelList"/>
    <dgm:cxn modelId="{59A153DC-8F06-4DEC-8851-A3BF643D993A}" type="presParOf" srcId="{6D897391-AD52-4CBA-8FB7-3FD934D997F9}" destId="{33FFD129-6742-41EF-B618-1B460E00D3CA}" srcOrd="1" destOrd="0" presId="urn:microsoft.com/office/officeart/2018/2/layout/IconLabelList"/>
    <dgm:cxn modelId="{670D3CDA-08A6-4452-8903-920523ED360D}" type="presParOf" srcId="{6D897391-AD52-4CBA-8FB7-3FD934D997F9}" destId="{ACDD0AD0-14FB-425E-84DB-D03F80F3227C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97240E20-2759-4727-ADA7-E3E346834566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coloredtext_colorful1" csCatId="colorful" phldr="1"/>
      <dgm:spPr/>
      <dgm:t>
        <a:bodyPr/>
        <a:lstStyle/>
        <a:p>
          <a:endParaRPr lang="en-US"/>
        </a:p>
      </dgm:t>
    </dgm:pt>
    <dgm:pt modelId="{C7EECC15-A402-43CA-AF6D-6FD0127B2AD8}">
      <dgm:prSet/>
      <dgm:spPr/>
      <dgm:t>
        <a:bodyPr/>
        <a:lstStyle/>
        <a:p>
          <a:r>
            <a:rPr lang="en-GB" dirty="0">
              <a:solidFill>
                <a:schemeClr val="tx1"/>
              </a:solidFill>
            </a:rPr>
            <a:t>Indirect prompt injection can take many forms ranging from attacks targeting data used to write code to malicious prompts in order to gain personal data</a:t>
          </a:r>
          <a:endParaRPr lang="en-US" dirty="0">
            <a:solidFill>
              <a:schemeClr val="tx1"/>
            </a:solidFill>
          </a:endParaRPr>
        </a:p>
      </dgm:t>
    </dgm:pt>
    <dgm:pt modelId="{3262C986-B290-461A-88C5-01151DC6B450}" type="parTrans" cxnId="{F9017586-7B30-41B6-868F-DDD738CFBE31}">
      <dgm:prSet/>
      <dgm:spPr/>
      <dgm:t>
        <a:bodyPr/>
        <a:lstStyle/>
        <a:p>
          <a:endParaRPr lang="en-US"/>
        </a:p>
      </dgm:t>
    </dgm:pt>
    <dgm:pt modelId="{CD0DC99B-30CF-4CE2-A107-3CDECE781440}" type="sibTrans" cxnId="{F9017586-7B30-41B6-868F-DDD738CFBE31}">
      <dgm:prSet/>
      <dgm:spPr/>
      <dgm:t>
        <a:bodyPr/>
        <a:lstStyle/>
        <a:p>
          <a:endParaRPr lang="en-US"/>
        </a:p>
      </dgm:t>
    </dgm:pt>
    <dgm:pt modelId="{12E6873A-BE87-4778-A125-3B2B92ED9AA0}">
      <dgm:prSet/>
      <dgm:spPr/>
      <dgm:t>
        <a:bodyPr/>
        <a:lstStyle/>
        <a:p>
          <a:r>
            <a:rPr lang="en-GB" dirty="0">
              <a:solidFill>
                <a:schemeClr val="tx1"/>
              </a:solidFill>
            </a:rPr>
            <a:t>Through my project I will be exploring a number of these methods with a focus on web apps and develop methods to test LLM vulnerabilities of them</a:t>
          </a:r>
          <a:endParaRPr lang="en-US" dirty="0">
            <a:solidFill>
              <a:schemeClr val="tx1"/>
            </a:solidFill>
          </a:endParaRPr>
        </a:p>
      </dgm:t>
    </dgm:pt>
    <dgm:pt modelId="{2BAEF5EA-A6E7-4E44-809C-434ACC9C3925}" type="parTrans" cxnId="{0DA87845-8464-444E-A6FF-F71BEAB65C70}">
      <dgm:prSet/>
      <dgm:spPr/>
      <dgm:t>
        <a:bodyPr/>
        <a:lstStyle/>
        <a:p>
          <a:endParaRPr lang="en-US"/>
        </a:p>
      </dgm:t>
    </dgm:pt>
    <dgm:pt modelId="{5EF5EB5B-99CC-4E76-B606-F49440F0C249}" type="sibTrans" cxnId="{0DA87845-8464-444E-A6FF-F71BEAB65C70}">
      <dgm:prSet/>
      <dgm:spPr/>
      <dgm:t>
        <a:bodyPr/>
        <a:lstStyle/>
        <a:p>
          <a:endParaRPr lang="en-US"/>
        </a:p>
      </dgm:t>
    </dgm:pt>
    <dgm:pt modelId="{E6158261-7C27-4F71-A0B0-66D6C37E8B25}" type="pres">
      <dgm:prSet presAssocID="{97240E20-2759-4727-ADA7-E3E346834566}" presName="root" presStyleCnt="0">
        <dgm:presLayoutVars>
          <dgm:dir/>
          <dgm:resizeHandles val="exact"/>
        </dgm:presLayoutVars>
      </dgm:prSet>
      <dgm:spPr/>
    </dgm:pt>
    <dgm:pt modelId="{A21392FF-D85A-430C-A9FB-D4831D7D1B43}" type="pres">
      <dgm:prSet presAssocID="{C7EECC15-A402-43CA-AF6D-6FD0127B2AD8}" presName="compNode" presStyleCnt="0"/>
      <dgm:spPr/>
    </dgm:pt>
    <dgm:pt modelId="{C9BD165C-C9C8-4788-AE2D-999E935D1E35}" type="pres">
      <dgm:prSet presAssocID="{C7EECC15-A402-43CA-AF6D-6FD0127B2AD8}" presName="iconBgRect" presStyleLbl="bgShp" presStyleIdx="0" presStyleCnt="2"/>
      <dgm:spPr/>
    </dgm:pt>
    <dgm:pt modelId="{C34D91A2-D23C-4B3E-AD77-BE9B04CB439D}" type="pres">
      <dgm:prSet presAssocID="{C7EECC15-A402-43CA-AF6D-6FD0127B2AD8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ocessor"/>
        </a:ext>
      </dgm:extLst>
    </dgm:pt>
    <dgm:pt modelId="{D94E9903-0E1C-49B3-8B32-0988CE48352D}" type="pres">
      <dgm:prSet presAssocID="{C7EECC15-A402-43CA-AF6D-6FD0127B2AD8}" presName="spaceRect" presStyleCnt="0"/>
      <dgm:spPr/>
    </dgm:pt>
    <dgm:pt modelId="{108A18AA-A4FC-45D9-B4A2-17AF29E47A0F}" type="pres">
      <dgm:prSet presAssocID="{C7EECC15-A402-43CA-AF6D-6FD0127B2AD8}" presName="textRect" presStyleLbl="revTx" presStyleIdx="0" presStyleCnt="2">
        <dgm:presLayoutVars>
          <dgm:chMax val="1"/>
          <dgm:chPref val="1"/>
        </dgm:presLayoutVars>
      </dgm:prSet>
      <dgm:spPr/>
    </dgm:pt>
    <dgm:pt modelId="{AE190E6A-BC1E-4BC8-A82B-6A55F38EA9E0}" type="pres">
      <dgm:prSet presAssocID="{CD0DC99B-30CF-4CE2-A107-3CDECE781440}" presName="sibTrans" presStyleCnt="0"/>
      <dgm:spPr/>
    </dgm:pt>
    <dgm:pt modelId="{1EFCD15B-31ED-45DE-97EE-EFAE094A559E}" type="pres">
      <dgm:prSet presAssocID="{12E6873A-BE87-4778-A125-3B2B92ED9AA0}" presName="compNode" presStyleCnt="0"/>
      <dgm:spPr/>
    </dgm:pt>
    <dgm:pt modelId="{3F752F29-D33F-4B7A-A3A0-F9CFE63ED1FB}" type="pres">
      <dgm:prSet presAssocID="{12E6873A-BE87-4778-A125-3B2B92ED9AA0}" presName="iconBgRect" presStyleLbl="bgShp" presStyleIdx="1" presStyleCnt="2"/>
      <dgm:spPr/>
    </dgm:pt>
    <dgm:pt modelId="{C71778B6-D29C-4067-8D10-55CE139FC14D}" type="pres">
      <dgm:prSet presAssocID="{12E6873A-BE87-4778-A125-3B2B92ED9AA0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agnifying glass"/>
        </a:ext>
      </dgm:extLst>
    </dgm:pt>
    <dgm:pt modelId="{94321E83-7ACC-4ACB-B45E-42CE724028A3}" type="pres">
      <dgm:prSet presAssocID="{12E6873A-BE87-4778-A125-3B2B92ED9AA0}" presName="spaceRect" presStyleCnt="0"/>
      <dgm:spPr/>
    </dgm:pt>
    <dgm:pt modelId="{0E91A8EE-4976-4F3E-8C70-00F505DA68B4}" type="pres">
      <dgm:prSet presAssocID="{12E6873A-BE87-4778-A125-3B2B92ED9AA0}" presName="textRect" presStyleLbl="revTx" presStyleIdx="1" presStyleCnt="2">
        <dgm:presLayoutVars>
          <dgm:chMax val="1"/>
          <dgm:chPref val="1"/>
        </dgm:presLayoutVars>
      </dgm:prSet>
      <dgm:spPr/>
    </dgm:pt>
  </dgm:ptLst>
  <dgm:cxnLst>
    <dgm:cxn modelId="{9B685302-0769-40E6-ABBA-2B573BB1A457}" type="presOf" srcId="{97240E20-2759-4727-ADA7-E3E346834566}" destId="{E6158261-7C27-4F71-A0B0-66D6C37E8B25}" srcOrd="0" destOrd="0" presId="urn:microsoft.com/office/officeart/2018/5/layout/IconCircleLabelList"/>
    <dgm:cxn modelId="{0DA87845-8464-444E-A6FF-F71BEAB65C70}" srcId="{97240E20-2759-4727-ADA7-E3E346834566}" destId="{12E6873A-BE87-4778-A125-3B2B92ED9AA0}" srcOrd="1" destOrd="0" parTransId="{2BAEF5EA-A6E7-4E44-809C-434ACC9C3925}" sibTransId="{5EF5EB5B-99CC-4E76-B606-F49440F0C249}"/>
    <dgm:cxn modelId="{F9017586-7B30-41B6-868F-DDD738CFBE31}" srcId="{97240E20-2759-4727-ADA7-E3E346834566}" destId="{C7EECC15-A402-43CA-AF6D-6FD0127B2AD8}" srcOrd="0" destOrd="0" parTransId="{3262C986-B290-461A-88C5-01151DC6B450}" sibTransId="{CD0DC99B-30CF-4CE2-A107-3CDECE781440}"/>
    <dgm:cxn modelId="{3CEE64C0-DF66-4605-855F-E3F898889694}" type="presOf" srcId="{12E6873A-BE87-4778-A125-3B2B92ED9AA0}" destId="{0E91A8EE-4976-4F3E-8C70-00F505DA68B4}" srcOrd="0" destOrd="0" presId="urn:microsoft.com/office/officeart/2018/5/layout/IconCircleLabelList"/>
    <dgm:cxn modelId="{B85190FD-7E0F-47BB-8331-593CA7A5D748}" type="presOf" srcId="{C7EECC15-A402-43CA-AF6D-6FD0127B2AD8}" destId="{108A18AA-A4FC-45D9-B4A2-17AF29E47A0F}" srcOrd="0" destOrd="0" presId="urn:microsoft.com/office/officeart/2018/5/layout/IconCircleLabelList"/>
    <dgm:cxn modelId="{D5C4D82C-8F67-44D0-9048-081B9C0D004E}" type="presParOf" srcId="{E6158261-7C27-4F71-A0B0-66D6C37E8B25}" destId="{A21392FF-D85A-430C-A9FB-D4831D7D1B43}" srcOrd="0" destOrd="0" presId="urn:microsoft.com/office/officeart/2018/5/layout/IconCircleLabelList"/>
    <dgm:cxn modelId="{97C6D32D-A62D-4BFF-A755-7009E51EC286}" type="presParOf" srcId="{A21392FF-D85A-430C-A9FB-D4831D7D1B43}" destId="{C9BD165C-C9C8-4788-AE2D-999E935D1E35}" srcOrd="0" destOrd="0" presId="urn:microsoft.com/office/officeart/2018/5/layout/IconCircleLabelList"/>
    <dgm:cxn modelId="{D403A5E9-A1E0-4E3E-969D-7B0C65993763}" type="presParOf" srcId="{A21392FF-D85A-430C-A9FB-D4831D7D1B43}" destId="{C34D91A2-D23C-4B3E-AD77-BE9B04CB439D}" srcOrd="1" destOrd="0" presId="urn:microsoft.com/office/officeart/2018/5/layout/IconCircleLabelList"/>
    <dgm:cxn modelId="{6F7D6F48-EE05-4AA0-A591-30A04018065F}" type="presParOf" srcId="{A21392FF-D85A-430C-A9FB-D4831D7D1B43}" destId="{D94E9903-0E1C-49B3-8B32-0988CE48352D}" srcOrd="2" destOrd="0" presId="urn:microsoft.com/office/officeart/2018/5/layout/IconCircleLabelList"/>
    <dgm:cxn modelId="{0071F4B2-49E5-4F14-84F7-F508E188F9A3}" type="presParOf" srcId="{A21392FF-D85A-430C-A9FB-D4831D7D1B43}" destId="{108A18AA-A4FC-45D9-B4A2-17AF29E47A0F}" srcOrd="3" destOrd="0" presId="urn:microsoft.com/office/officeart/2018/5/layout/IconCircleLabelList"/>
    <dgm:cxn modelId="{A885B010-03EE-42F5-8DAF-A9420DD2B56B}" type="presParOf" srcId="{E6158261-7C27-4F71-A0B0-66D6C37E8B25}" destId="{AE190E6A-BC1E-4BC8-A82B-6A55F38EA9E0}" srcOrd="1" destOrd="0" presId="urn:microsoft.com/office/officeart/2018/5/layout/IconCircleLabelList"/>
    <dgm:cxn modelId="{35A4B3E0-6D35-43B5-91E0-92EB70005798}" type="presParOf" srcId="{E6158261-7C27-4F71-A0B0-66D6C37E8B25}" destId="{1EFCD15B-31ED-45DE-97EE-EFAE094A559E}" srcOrd="2" destOrd="0" presId="urn:microsoft.com/office/officeart/2018/5/layout/IconCircleLabelList"/>
    <dgm:cxn modelId="{27E922BC-1FC2-4194-9C32-99DE7EBAE1F9}" type="presParOf" srcId="{1EFCD15B-31ED-45DE-97EE-EFAE094A559E}" destId="{3F752F29-D33F-4B7A-A3A0-F9CFE63ED1FB}" srcOrd="0" destOrd="0" presId="urn:microsoft.com/office/officeart/2018/5/layout/IconCircleLabelList"/>
    <dgm:cxn modelId="{EBFD2FDD-D123-4AF9-A0F5-323A076E0E84}" type="presParOf" srcId="{1EFCD15B-31ED-45DE-97EE-EFAE094A559E}" destId="{C71778B6-D29C-4067-8D10-55CE139FC14D}" srcOrd="1" destOrd="0" presId="urn:microsoft.com/office/officeart/2018/5/layout/IconCircleLabelList"/>
    <dgm:cxn modelId="{268B3FD4-8CA3-4F0A-9A7E-10672CCE06C1}" type="presParOf" srcId="{1EFCD15B-31ED-45DE-97EE-EFAE094A559E}" destId="{94321E83-7ACC-4ACB-B45E-42CE724028A3}" srcOrd="2" destOrd="0" presId="urn:microsoft.com/office/officeart/2018/5/layout/IconCircleLabelList"/>
    <dgm:cxn modelId="{15F7A8A6-E6D9-479D-A278-830CE3A5E8AC}" type="presParOf" srcId="{1EFCD15B-31ED-45DE-97EE-EFAE094A559E}" destId="{0E91A8EE-4976-4F3E-8C70-00F505DA68B4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FAED3CA-3AB2-4CAA-A1EE-AB42B9E5C82C}">
      <dsp:nvSpPr>
        <dsp:cNvPr id="0" name=""/>
        <dsp:cNvSpPr/>
      </dsp:nvSpPr>
      <dsp:spPr>
        <a:xfrm>
          <a:off x="3160067" y="2050682"/>
          <a:ext cx="694702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694702" y="45720"/>
              </a:lnTo>
            </a:path>
          </a:pathLst>
        </a:custGeom>
        <a:noFill/>
        <a:ln w="1270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489285" y="2092775"/>
        <a:ext cx="36265" cy="7253"/>
      </dsp:txXfrm>
    </dsp:sp>
    <dsp:sp modelId="{A82262F2-A321-4CBF-9B13-7D1A0DDCF1FE}">
      <dsp:nvSpPr>
        <dsp:cNvPr id="0" name=""/>
        <dsp:cNvSpPr/>
      </dsp:nvSpPr>
      <dsp:spPr>
        <a:xfrm>
          <a:off x="8377" y="1150355"/>
          <a:ext cx="3153489" cy="1892093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4524" tIns="162200" rIns="154524" bIns="16220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/>
            <a:t>Analyse the practical security risks as a result of web enabled LLM’s</a:t>
          </a:r>
          <a:endParaRPr lang="en-US" sz="1800" kern="1200"/>
        </a:p>
      </dsp:txBody>
      <dsp:txXfrm>
        <a:off x="8377" y="1150355"/>
        <a:ext cx="3153489" cy="1892093"/>
      </dsp:txXfrm>
    </dsp:sp>
    <dsp:sp modelId="{4A9FD192-F2F3-4089-84C5-744E87A63313}">
      <dsp:nvSpPr>
        <dsp:cNvPr id="0" name=""/>
        <dsp:cNvSpPr/>
      </dsp:nvSpPr>
      <dsp:spPr>
        <a:xfrm>
          <a:off x="7038859" y="2050682"/>
          <a:ext cx="694702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694702" y="45720"/>
              </a:lnTo>
            </a:path>
          </a:pathLst>
        </a:custGeom>
        <a:noFill/>
        <a:ln w="12700" cap="flat" cmpd="sng" algn="ctr">
          <a:solidFill>
            <a:schemeClr val="accent5">
              <a:hueOff val="-12152150"/>
              <a:satOff val="-826"/>
              <a:lumOff val="1961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7368078" y="2092775"/>
        <a:ext cx="36265" cy="7253"/>
      </dsp:txXfrm>
    </dsp:sp>
    <dsp:sp modelId="{75B443DF-4A09-436D-90FB-9CADA7BE5916}">
      <dsp:nvSpPr>
        <dsp:cNvPr id="0" name=""/>
        <dsp:cNvSpPr/>
      </dsp:nvSpPr>
      <dsp:spPr>
        <a:xfrm>
          <a:off x="3887169" y="1150355"/>
          <a:ext cx="3153489" cy="1892093"/>
        </a:xfrm>
        <a:prstGeom prst="rect">
          <a:avLst/>
        </a:prstGeom>
        <a:solidFill>
          <a:schemeClr val="accent5">
            <a:hueOff val="-6076075"/>
            <a:satOff val="-413"/>
            <a:lumOff val="981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4524" tIns="162200" rIns="154524" bIns="16220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/>
            <a:t>Prove the security threats are possible and pose a real world threat to LLM’s</a:t>
          </a:r>
          <a:endParaRPr lang="en-US" sz="1800" kern="1200"/>
        </a:p>
      </dsp:txBody>
      <dsp:txXfrm>
        <a:off x="3887169" y="1150355"/>
        <a:ext cx="3153489" cy="1892093"/>
      </dsp:txXfrm>
    </dsp:sp>
    <dsp:sp modelId="{67DCEE86-F2FA-4B76-B8A2-3EBE28A21AE8}">
      <dsp:nvSpPr>
        <dsp:cNvPr id="0" name=""/>
        <dsp:cNvSpPr/>
      </dsp:nvSpPr>
      <dsp:spPr>
        <a:xfrm>
          <a:off x="7765961" y="1150355"/>
          <a:ext cx="3153489" cy="1892093"/>
        </a:xfrm>
        <a:prstGeom prst="rect">
          <a:avLst/>
        </a:prstGeom>
        <a:solidFill>
          <a:schemeClr val="accent5">
            <a:hueOff val="-12152150"/>
            <a:satOff val="-826"/>
            <a:lumOff val="1961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4524" tIns="162200" rIns="154524" bIns="16220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/>
            <a:t>Develop a tool to allow a penetration tester to quickly and easily assess the threat of indirect prompt injection of a web enabled LLM</a:t>
          </a:r>
          <a:endParaRPr lang="en-US" sz="1800" kern="1200"/>
        </a:p>
      </dsp:txBody>
      <dsp:txXfrm>
        <a:off x="7765961" y="1150355"/>
        <a:ext cx="3153489" cy="189209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F2DEBB6-93B1-45F4-A3BB-2AAB3A2C8E58}">
      <dsp:nvSpPr>
        <dsp:cNvPr id="0" name=""/>
        <dsp:cNvSpPr/>
      </dsp:nvSpPr>
      <dsp:spPr>
        <a:xfrm>
          <a:off x="0" y="144140"/>
          <a:ext cx="6666833" cy="2548259"/>
        </a:xfrm>
        <a:prstGeom prst="round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kern="1200"/>
            <a:t>Prompt injection is a technique whereby carefully selecting and wording a prompt can cause a LLM to behave unexpectedly, bypass built in security measures and output something it shouldn’t which an attacker may want.</a:t>
          </a:r>
          <a:endParaRPr lang="en-US" sz="2400" kern="1200"/>
        </a:p>
      </dsp:txBody>
      <dsp:txXfrm>
        <a:off x="124396" y="268536"/>
        <a:ext cx="6418041" cy="2299467"/>
      </dsp:txXfrm>
    </dsp:sp>
    <dsp:sp modelId="{9E18EEB9-ECF3-408B-8EA4-96E3B0446017}">
      <dsp:nvSpPr>
        <dsp:cNvPr id="0" name=""/>
        <dsp:cNvSpPr/>
      </dsp:nvSpPr>
      <dsp:spPr>
        <a:xfrm>
          <a:off x="0" y="2761520"/>
          <a:ext cx="6666833" cy="2548259"/>
        </a:xfrm>
        <a:prstGeom prst="roundRect">
          <a:avLst/>
        </a:prstGeom>
        <a:gradFill rotWithShape="0">
          <a:gsLst>
            <a:gs pos="0">
              <a:schemeClr val="accent5">
                <a:hueOff val="-12152150"/>
                <a:satOff val="-826"/>
                <a:lumOff val="1961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-12152150"/>
                <a:satOff val="-826"/>
                <a:lumOff val="1961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-12152150"/>
                <a:satOff val="-826"/>
                <a:lumOff val="1961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kern="1200"/>
            <a:t>Examples can include framing such as making the request appear like its necessary to save a dying grandma, encoding such as base64 or replacing text with 🅴 🅼 🅾 🅹 🅸 🆂 or exploiting safety concerns such as self-harm protections as well as many other techniques.</a:t>
          </a:r>
          <a:endParaRPr lang="en-US" sz="2400" kern="1200"/>
        </a:p>
      </dsp:txBody>
      <dsp:txXfrm>
        <a:off x="124396" y="2885916"/>
        <a:ext cx="6418041" cy="2299467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DE1BB00-D0CF-47AC-8873-983A81477BD3}">
      <dsp:nvSpPr>
        <dsp:cNvPr id="0" name=""/>
        <dsp:cNvSpPr/>
      </dsp:nvSpPr>
      <dsp:spPr>
        <a:xfrm>
          <a:off x="0" y="12559"/>
          <a:ext cx="6666833" cy="2676960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600" kern="1200"/>
            <a:t>Indirect prompt injection builds upon prompt injection as another method to bypass security restrictions placed upon a LLM by hiding the prompt within a non-text piece of data such as an image, voice or website.</a:t>
          </a:r>
          <a:endParaRPr lang="en-US" sz="2600" kern="1200"/>
        </a:p>
      </dsp:txBody>
      <dsp:txXfrm>
        <a:off x="130678" y="143237"/>
        <a:ext cx="6405477" cy="2415604"/>
      </dsp:txXfrm>
    </dsp:sp>
    <dsp:sp modelId="{CCA806FF-9AE0-4D71-86D4-57580173E3AD}">
      <dsp:nvSpPr>
        <dsp:cNvPr id="0" name=""/>
        <dsp:cNvSpPr/>
      </dsp:nvSpPr>
      <dsp:spPr>
        <a:xfrm>
          <a:off x="0" y="2764400"/>
          <a:ext cx="6666833" cy="2676960"/>
        </a:xfrm>
        <a:prstGeom prst="roundRect">
          <a:avLst/>
        </a:prstGeom>
        <a:gradFill rotWithShape="0">
          <a:gsLst>
            <a:gs pos="0">
              <a:schemeClr val="accent2">
                <a:hueOff val="6443614"/>
                <a:satOff val="-18493"/>
                <a:lumOff val="-29609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6443614"/>
                <a:satOff val="-18493"/>
                <a:lumOff val="-29609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6443614"/>
                <a:satOff val="-18493"/>
                <a:lumOff val="-29609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600" kern="1200"/>
            <a:t>The advantage of this to the attacker is many security restrictions are designed to handle text  but are weaker at handling other forms of input, input initially treated as context/information or input retrieved from other locations i.e. web apps.</a:t>
          </a:r>
          <a:endParaRPr lang="en-US" sz="2600" kern="1200"/>
        </a:p>
      </dsp:txBody>
      <dsp:txXfrm>
        <a:off x="130678" y="2895078"/>
        <a:ext cx="6405477" cy="2415604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5234B74-66D3-4DF4-840A-D22F3CEECFE7}">
      <dsp:nvSpPr>
        <dsp:cNvPr id="0" name=""/>
        <dsp:cNvSpPr/>
      </dsp:nvSpPr>
      <dsp:spPr>
        <a:xfrm>
          <a:off x="1302749" y="1093538"/>
          <a:ext cx="1540687" cy="154068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C1AE8C0-5773-496A-A023-51C15C241754}">
      <dsp:nvSpPr>
        <dsp:cNvPr id="0" name=""/>
        <dsp:cNvSpPr/>
      </dsp:nvSpPr>
      <dsp:spPr>
        <a:xfrm>
          <a:off x="361218" y="3098982"/>
          <a:ext cx="3423749" cy="109001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kern="1200" dirty="0"/>
            <a:t>With the ever developing space of AI and specifically LLM’s, there is a constant threat of attack chains originating through LLM’s.</a:t>
          </a:r>
          <a:endParaRPr lang="en-US" sz="1400" kern="1200" dirty="0"/>
        </a:p>
      </dsp:txBody>
      <dsp:txXfrm>
        <a:off x="361218" y="3098982"/>
        <a:ext cx="3423749" cy="1090019"/>
      </dsp:txXfrm>
    </dsp:sp>
    <dsp:sp modelId="{8F757CCE-3B1D-40DF-A575-BEE8DC326FD8}">
      <dsp:nvSpPr>
        <dsp:cNvPr id="0" name=""/>
        <dsp:cNvSpPr/>
      </dsp:nvSpPr>
      <dsp:spPr>
        <a:xfrm>
          <a:off x="5325655" y="1093538"/>
          <a:ext cx="1540687" cy="154068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973DA5A-AACF-48BC-9594-BE3DC0752A9B}">
      <dsp:nvSpPr>
        <dsp:cNvPr id="0" name=""/>
        <dsp:cNvSpPr/>
      </dsp:nvSpPr>
      <dsp:spPr>
        <a:xfrm>
          <a:off x="4384124" y="3098982"/>
          <a:ext cx="3423749" cy="109001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kern="1200" dirty="0"/>
            <a:t>Resulting from the high speed development of these LLM’s there are constantly new features being developed, often with little security concern.</a:t>
          </a:r>
          <a:endParaRPr lang="en-US" sz="1400" kern="1200" dirty="0"/>
        </a:p>
      </dsp:txBody>
      <dsp:txXfrm>
        <a:off x="4384124" y="3098982"/>
        <a:ext cx="3423749" cy="1090019"/>
      </dsp:txXfrm>
    </dsp:sp>
    <dsp:sp modelId="{C0B9D871-BD5E-4EEB-A7EC-6544DBA63695}">
      <dsp:nvSpPr>
        <dsp:cNvPr id="0" name=""/>
        <dsp:cNvSpPr/>
      </dsp:nvSpPr>
      <dsp:spPr>
        <a:xfrm>
          <a:off x="9348561" y="1093538"/>
          <a:ext cx="1540687" cy="154068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5103AAB-0CED-4A0F-ABEA-A5E24C32004D}">
      <dsp:nvSpPr>
        <dsp:cNvPr id="0" name=""/>
        <dsp:cNvSpPr/>
      </dsp:nvSpPr>
      <dsp:spPr>
        <a:xfrm>
          <a:off x="8407030" y="3098982"/>
          <a:ext cx="3423749" cy="109001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kern="1200" dirty="0"/>
            <a:t>A staggeringly low amount of research (~10 papers) into web app indirect prompt injection, especially web based attacks results in low awareness and practical security in this area.</a:t>
          </a:r>
          <a:endParaRPr lang="en-US" sz="1400" kern="1200" dirty="0"/>
        </a:p>
      </dsp:txBody>
      <dsp:txXfrm>
        <a:off x="8407030" y="3098982"/>
        <a:ext cx="3423749" cy="1090019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DCE6D06-9F3D-4E3A-8CF4-2B3568A2803A}">
      <dsp:nvSpPr>
        <dsp:cNvPr id="0" name=""/>
        <dsp:cNvSpPr/>
      </dsp:nvSpPr>
      <dsp:spPr>
        <a:xfrm>
          <a:off x="1953914" y="529294"/>
          <a:ext cx="1944000" cy="19440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36BD79D-DCE0-40AA-B61E-C15B65140B61}">
      <dsp:nvSpPr>
        <dsp:cNvPr id="0" name=""/>
        <dsp:cNvSpPr/>
      </dsp:nvSpPr>
      <dsp:spPr>
        <a:xfrm>
          <a:off x="765914" y="2943510"/>
          <a:ext cx="432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kern="1200" dirty="0"/>
            <a:t>Research into this topic yielded very limited academic work into this area with many of the more recent pieces of work being based off of </a:t>
          </a:r>
          <a:r>
            <a:rPr lang="en-GB" sz="1400" kern="1200" dirty="0" err="1"/>
            <a:t>Greshake</a:t>
          </a:r>
          <a:r>
            <a:rPr lang="en-GB" sz="1400" kern="1200" dirty="0"/>
            <a:t> et al</a:t>
          </a:r>
          <a:endParaRPr lang="en-US" sz="1400" kern="1200" dirty="0"/>
        </a:p>
      </dsp:txBody>
      <dsp:txXfrm>
        <a:off x="765914" y="2943510"/>
        <a:ext cx="4320000" cy="720000"/>
      </dsp:txXfrm>
    </dsp:sp>
    <dsp:sp modelId="{DFA4A568-0574-4CA9-8A8F-C8C5458B0290}">
      <dsp:nvSpPr>
        <dsp:cNvPr id="0" name=""/>
        <dsp:cNvSpPr/>
      </dsp:nvSpPr>
      <dsp:spPr>
        <a:xfrm>
          <a:off x="7029914" y="529294"/>
          <a:ext cx="1944000" cy="19440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CDD0AD0-14FB-425E-84DB-D03F80F3227C}">
      <dsp:nvSpPr>
        <dsp:cNvPr id="0" name=""/>
        <dsp:cNvSpPr/>
      </dsp:nvSpPr>
      <dsp:spPr>
        <a:xfrm>
          <a:off x="5841914" y="2943510"/>
          <a:ext cx="432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200" kern="1200" dirty="0"/>
            <a:t>The theory of these techniques was strongly established in </a:t>
          </a:r>
          <a:r>
            <a:rPr lang="en-GB" sz="1200" kern="1200" dirty="0" err="1"/>
            <a:t>Greshake</a:t>
          </a:r>
          <a:r>
            <a:rPr lang="en-GB" sz="1200" kern="1200" dirty="0"/>
            <a:t> et al with some additionally being added in other papers along with some practical proof of concepts albeit quite limited</a:t>
          </a:r>
          <a:endParaRPr lang="en-US" sz="1200" kern="1200" dirty="0"/>
        </a:p>
      </dsp:txBody>
      <dsp:txXfrm>
        <a:off x="5841914" y="2943510"/>
        <a:ext cx="4320000" cy="720000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9BD165C-C9C8-4788-AE2D-999E935D1E35}">
      <dsp:nvSpPr>
        <dsp:cNvPr id="0" name=""/>
        <dsp:cNvSpPr/>
      </dsp:nvSpPr>
      <dsp:spPr>
        <a:xfrm>
          <a:off x="2250914" y="296402"/>
          <a:ext cx="2196000" cy="2196000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34D91A2-D23C-4B3E-AD77-BE9B04CB439D}">
      <dsp:nvSpPr>
        <dsp:cNvPr id="0" name=""/>
        <dsp:cNvSpPr/>
      </dsp:nvSpPr>
      <dsp:spPr>
        <a:xfrm>
          <a:off x="2718914" y="764402"/>
          <a:ext cx="1260000" cy="12600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08A18AA-A4FC-45D9-B4A2-17AF29E47A0F}">
      <dsp:nvSpPr>
        <dsp:cNvPr id="0" name=""/>
        <dsp:cNvSpPr/>
      </dsp:nvSpPr>
      <dsp:spPr>
        <a:xfrm>
          <a:off x="1548914" y="3176402"/>
          <a:ext cx="36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200" kern="1200" dirty="0">
              <a:solidFill>
                <a:schemeClr val="tx1"/>
              </a:solidFill>
            </a:rPr>
            <a:t>Indirect prompt injection can take many forms ranging from attacks targeting data used to write code to malicious prompts in order to gain personal data</a:t>
          </a:r>
          <a:endParaRPr lang="en-US" sz="1200" kern="1200" dirty="0">
            <a:solidFill>
              <a:schemeClr val="tx1"/>
            </a:solidFill>
          </a:endParaRPr>
        </a:p>
      </dsp:txBody>
      <dsp:txXfrm>
        <a:off x="1548914" y="3176402"/>
        <a:ext cx="3600000" cy="720000"/>
      </dsp:txXfrm>
    </dsp:sp>
    <dsp:sp modelId="{3F752F29-D33F-4B7A-A3A0-F9CFE63ED1FB}">
      <dsp:nvSpPr>
        <dsp:cNvPr id="0" name=""/>
        <dsp:cNvSpPr/>
      </dsp:nvSpPr>
      <dsp:spPr>
        <a:xfrm>
          <a:off x="6480914" y="296402"/>
          <a:ext cx="2196000" cy="2196000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71778B6-D29C-4067-8D10-55CE139FC14D}">
      <dsp:nvSpPr>
        <dsp:cNvPr id="0" name=""/>
        <dsp:cNvSpPr/>
      </dsp:nvSpPr>
      <dsp:spPr>
        <a:xfrm>
          <a:off x="6948914" y="764402"/>
          <a:ext cx="1260000" cy="12600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E91A8EE-4976-4F3E-8C70-00F505DA68B4}">
      <dsp:nvSpPr>
        <dsp:cNvPr id="0" name=""/>
        <dsp:cNvSpPr/>
      </dsp:nvSpPr>
      <dsp:spPr>
        <a:xfrm>
          <a:off x="5778914" y="3176402"/>
          <a:ext cx="36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200" kern="1200" dirty="0">
              <a:solidFill>
                <a:schemeClr val="tx1"/>
              </a:solidFill>
            </a:rPr>
            <a:t>Through my project I will be exploring a number of these methods with a focus on web apps and develop methods to test LLM vulnerabilities of them</a:t>
          </a:r>
          <a:endParaRPr lang="en-US" sz="1200" kern="1200" dirty="0">
            <a:solidFill>
              <a:schemeClr val="tx1"/>
            </a:solidFill>
          </a:endParaRPr>
        </a:p>
      </dsp:txBody>
      <dsp:txXfrm>
        <a:off x="5778914" y="3176402"/>
        <a:ext cx="3600000" cy="720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6/7/layout/RepeatingBendingProcessNew">
  <dgm:title val="Repeating Bending Process New"/>
  <dgm:desc val=""/>
  <dgm:catLst>
    <dgm:cat type="process" pri="5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self" func="var" arg="dir" op="equ" val="norm">
        <dgm:alg type="snake">
          <dgm:param type="grDir" val="tL"/>
          <dgm:param type="flowDir" val="row"/>
          <dgm:param type="contDir" val="sameDir"/>
          <dgm:param type="bkpt" val="endCnv"/>
        </dgm:alg>
      </dgm:if>
      <dgm:else name="Name3">
        <dgm:alg type="snake">
          <dgm:param type="grDir" val="tR"/>
          <dgm:param type="flowDir" val="row"/>
          <dgm:param type="contDir" val="same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23"/>
      <dgm:constr type="sp" refType="w" refFor="ch" refForName="sibTrans" op="equ"/>
      <dgm:constr type="userB" for="des" forName="connectorText" refType="sp"/>
      <dgm:constr type="primFontSz" for="ch" ptType="node" op="equ" val="65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 fact="0.6"/>
          <dgm:constr type="tMarg" refType="h" fact="0.243"/>
          <dgm:constr type="bMarg" refType="h" fact="0.243"/>
          <dgm:constr type="lMarg" refType="w" fact="0.1389"/>
          <dgm:constr type="rMarg" refType="w" fact="0.1389"/>
        </dgm:constrLst>
        <dgm:ruleLst>
          <dgm:rule type="primFontSz" val="12" fact="NaN" max="NaN"/>
        </dgm:ruleLst>
      </dgm:layoutNode>
      <dgm:forEach name="sibTransForEach" axis="followSib" ptType="sibTrans" cnt="1">
        <dgm:layoutNode name="sibTrans">
          <dgm:choose name="Name4">
            <dgm:if name="Name5" axis="self" func="var" arg="dir" op="equ" val="norm">
              <dgm:alg type="conn">
                <dgm:param type="connRout" val="bend"/>
                <dgm:param type="dim" val="1D"/>
                <dgm:param type="begPts" val="midR bCtr"/>
                <dgm:param type="endPts" val="midL tCtr"/>
              </dgm:alg>
            </dgm:if>
            <dgm:else name="Name6">
              <dgm:alg type="conn">
                <dgm:param type="connRout" val="bend"/>
                <dgm:param type="dim" val="1D"/>
                <dgm:param type="begPts" val="midL bCtr"/>
                <dgm:param type="endPts" val="midR tCt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 val="-0.05"/>
            <dgm:constr type="endPad" val="0.9"/>
            <dgm:constr type="userA" for="ch" ref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userA"/>
              <dgm:constr type="userB"/>
              <dgm:constr type="w" refType="userA" fact="0.05"/>
              <dgm:constr type="h" refType="userB" fact="0.01"/>
              <dgm:constr type="lMarg" val="1"/>
              <dgm:constr type="rMarg" val="1"/>
              <dgm:constr type="tMarg"/>
              <dgm:constr type="bMarg"/>
            </dgm:constrLst>
            <dgm:ruleLst>
              <dgm:rule type="w" val="NaN" fact="0.6" max="NaN"/>
              <dgm:rule type="h" val="NaN" fact="0.6" max="NaN"/>
              <dgm:rule type="primFontSz" val="5" fact="NaN" max="NaN"/>
            </dgm:ruleLst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82056A7-0DE2-42B3-9F2F-FD46DCCA1F32}" type="datetimeFigureOut">
              <a:rPr lang="en-GB" smtClean="0"/>
              <a:t>12/02/2026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DF6F117-21E8-4489-846A-9C2CF9259BE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656955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F6F117-21E8-4489-846A-9C2CF9259BE5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7357942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54CF4C-66DA-B122-1F78-26673C37437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663F282-3DE4-3A6B-7D1B-DF8702BFB07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C931F4-723A-06CC-AA3C-F1CED9F15E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EFFBEB-722F-4692-B85C-F4E7F9767597}" type="datetimeFigureOut">
              <a:rPr lang="en-GB" smtClean="0"/>
              <a:t>11/02/2026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06AC2D-679D-2548-1245-F01629AFD9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4EB1F8-E13E-EE9C-9ED3-513165D0E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4F3B58-AE79-42D6-BB12-08D6557B457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90087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023AAB-A266-9D2A-5646-4E92BED33C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A2F671-26FF-7D10-244B-264BF683C3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2F8FFA-C2E1-23BA-43BE-21C4F9FC46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EFFBEB-722F-4692-B85C-F4E7F9767597}" type="datetimeFigureOut">
              <a:rPr lang="en-GB" smtClean="0"/>
              <a:t>11/02/2026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CB76DC-ABB5-290C-65D9-6A10E9C317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333E65-846E-A15F-9901-D5E12EF7C8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4F3B58-AE79-42D6-BB12-08D6557B457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1539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F58FA4-6FC9-CDC3-1A3C-649512713C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A96F9F-6C0F-CDBD-8712-E4AC71A38A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88DD31-93B4-237B-CB42-E2638D9696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EFFBEB-722F-4692-B85C-F4E7F9767597}" type="datetimeFigureOut">
              <a:rPr lang="en-GB" smtClean="0"/>
              <a:t>11/02/2026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B946B1-72D1-5587-C32B-CB68FC52F3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4D9B68-50CC-0768-3DCD-F24A46AC58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4F3B58-AE79-42D6-BB12-08D6557B457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555211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5C692B-F373-1D38-7829-E6B813FE0A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5BC515-B464-6800-2F5F-45A43FABC19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2D11E9C-60A9-9E9F-5F57-E8DE53C52C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43136D-535A-6110-8FE4-5A2783204C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EFFBEB-722F-4692-B85C-F4E7F9767597}" type="datetimeFigureOut">
              <a:rPr lang="en-GB" smtClean="0"/>
              <a:t>11/02/2026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4440A96-3652-9DE5-D535-D859A8D984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7B758B-5FA2-7736-5253-F82184C2BE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4F3B58-AE79-42D6-BB12-08D6557B457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230017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557E8C-50A0-A58D-53CF-2A0303E366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8F136A-D03E-15F5-1490-A938213E65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A28816-74B7-F1A6-74E0-B73AD0D17D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AD33965-E390-CAD0-F91A-31432709A19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4BEC906-2B83-508E-AB9F-7D32E4FDF16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858CE9C-933D-FB35-B144-D4EDF62D35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EFFBEB-722F-4692-B85C-F4E7F9767597}" type="datetimeFigureOut">
              <a:rPr lang="en-GB" smtClean="0"/>
              <a:t>11/02/2026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C6D77EE-3322-836C-E83F-3E76CFF8EB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C72C67B-912D-6AEC-32CF-86A305FD7F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4F3B58-AE79-42D6-BB12-08D6557B457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2389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FCEE3B-A050-4B60-AC7B-DB544F5C51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23953A-DDCA-43A1-CB19-4DA2B404CB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EFFBEB-722F-4692-B85C-F4E7F9767597}" type="datetimeFigureOut">
              <a:rPr lang="en-GB" smtClean="0"/>
              <a:t>11/02/2026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490F6D1-7F8F-F356-07B2-655CBF2D2C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D7BC3AC-1EBA-B9A4-C7D4-364146DB44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4F3B58-AE79-42D6-BB12-08D6557B457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741183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72CDC98-EAAE-8376-6269-6714714018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EFFBEB-722F-4692-B85C-F4E7F9767597}" type="datetimeFigureOut">
              <a:rPr lang="en-GB" smtClean="0"/>
              <a:t>11/02/2026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D2E4F0E-2883-B196-8D0C-AD2E4DB57F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550BDA-7E17-FCE3-C216-31DAD1F39B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4F3B58-AE79-42D6-BB12-08D6557B457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55559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23F974-EC27-4C2E-747F-31BD7D1958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BFEF24-69BC-53C9-0D17-043ED1D305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760F26-A5DE-9B82-928F-C1EBFF0C57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F1736F-95DD-13B5-18F8-96011D7412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EFFBEB-722F-4692-B85C-F4E7F9767597}" type="datetimeFigureOut">
              <a:rPr lang="en-GB" smtClean="0"/>
              <a:t>11/02/2026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0C1B21-7456-664D-0EFE-FD6650F40C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80930DB-071C-55B9-10B9-35D183912B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4F3B58-AE79-42D6-BB12-08D6557B457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478891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208AC4-D590-B7E3-E3A7-18668A8E7C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D0FEF58-0AFC-1ABE-0D25-70BDFCF62D3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8863B2B-9443-FC0F-2A1F-B3C3C52706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F2D36D-5947-5C28-FAAE-21C2718D41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EFFBEB-722F-4692-B85C-F4E7F9767597}" type="datetimeFigureOut">
              <a:rPr lang="en-GB" smtClean="0"/>
              <a:t>11/02/2026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C77DE4-3F0A-9374-8CC3-F5127E9A49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0DB4FF2-7B24-1DE4-3EA9-DC1F10C6C2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4F3B58-AE79-42D6-BB12-08D6557B457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92524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B0C501-3935-47DC-93BB-59F655609C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D3EF87B-C94E-563E-5EC1-618AF86306B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9469A7-21A3-DB1A-3D57-061C5F801F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EFFBEB-722F-4692-B85C-F4E7F9767597}" type="datetimeFigureOut">
              <a:rPr lang="en-GB" smtClean="0"/>
              <a:t>11/02/2026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B1FD8A-1CA0-5A9C-4087-24CB111F81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B89B22-0895-BC62-A275-A012C78461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4F3B58-AE79-42D6-BB12-08D6557B457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71112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0D0C52E-6AB7-0AF5-3EB9-C2B15F2BAD0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2C344B8-75B8-7D9A-AC49-BB8E15CDA36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22387E-B80B-7391-0035-3918DF83C5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EFFBEB-722F-4692-B85C-F4E7F9767597}" type="datetimeFigureOut">
              <a:rPr lang="en-GB" smtClean="0"/>
              <a:t>11/02/2026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C6790A-D2BD-64A0-8E08-2C51C9213B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224ADE-5F3C-B4D5-47D4-BE048369CF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4F3B58-AE79-42D6-BB12-08D6557B457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19609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BF14660-6D08-FB2B-1841-F6E6E205C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014C53-3223-04CF-2FD1-82A9E814D9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BA0F62-EB5D-C48C-3E11-DFDBA39709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2EFFBEB-722F-4692-B85C-F4E7F9767597}" type="datetimeFigureOut">
              <a:rPr lang="en-GB" smtClean="0"/>
              <a:t>11/02/2026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885D18-D1AB-33A8-D244-13638B02CD1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3AA2BE-9737-C222-3CAD-C2E9C68AF2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B4F3B58-AE79-42D6-BB12-08D6557B457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048137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0F97F14-9189-350A-B1A9-C2B49DA5E8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26396" y="586855"/>
            <a:ext cx="4230100" cy="3387497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r"/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Demonstration of progress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C5BC928-0D05-9E4A-C164-0ED134F85C7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03158" y="649480"/>
            <a:ext cx="4862447" cy="5546047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indent="-228600" algn="l">
              <a:buFont typeface="Arial" panose="020B0604020202020204" pitchFamily="34" charset="0"/>
              <a:buChar char="•"/>
            </a:pPr>
            <a:r>
              <a:rPr lang="en-US" sz="2000"/>
              <a:t>By Finley Hitchings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en-US" sz="2000"/>
              <a:t>Computer science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en-US" sz="2000"/>
              <a:t>Year 3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en-US" sz="2000"/>
              <a:t>University of Bath</a:t>
            </a:r>
          </a:p>
        </p:txBody>
      </p:sp>
    </p:spTree>
    <p:extLst>
      <p:ext uri="{BB962C8B-B14F-4D97-AF65-F5344CB8AC3E}">
        <p14:creationId xmlns:p14="http://schemas.microsoft.com/office/powerpoint/2010/main" val="26848368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AEB730-59DF-8695-499A-E7576E8FA2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GB" sz="4000">
                <a:solidFill>
                  <a:srgbClr val="FFFFFF"/>
                </a:solidFill>
              </a:rPr>
              <a:t>The project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A941C726-2E6E-925B-566F-92B1D8F964C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22826411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180634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6F5A5072-7B47-4D32-B52A-4EBBF590B8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715DAF0-AE1B-46C9-8A6B-DB2AA05AB9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2" y="-22693"/>
            <a:ext cx="12191999" cy="4374129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016219D-510E-4184-9090-6D5578A87B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908719" y="-3931841"/>
            <a:ext cx="4374557" cy="12192000"/>
          </a:xfrm>
          <a:prstGeom prst="rect">
            <a:avLst/>
          </a:prstGeom>
          <a:gradFill>
            <a:gsLst>
              <a:gs pos="40000">
                <a:schemeClr val="accent1">
                  <a:alpha val="0"/>
                </a:schemeClr>
              </a:gs>
              <a:gs pos="100000">
                <a:schemeClr val="accent1">
                  <a:lumMod val="75000"/>
                  <a:alpha val="52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FF4A713-7B75-4B21-90D7-5AB19547C7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136696" y="-3703868"/>
            <a:ext cx="4374128" cy="11736479"/>
          </a:xfrm>
          <a:prstGeom prst="rect">
            <a:avLst/>
          </a:prstGeom>
          <a:gradFill>
            <a:gsLst>
              <a:gs pos="17000">
                <a:schemeClr val="accent1">
                  <a:alpha val="0"/>
                </a:schemeClr>
              </a:gs>
              <a:gs pos="100000">
                <a:srgbClr val="000000">
                  <a:alpha val="37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C631C0B-6DA6-4E57-8231-CE32B3434A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5" y="-22690"/>
            <a:ext cx="8542485" cy="4374126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25000"/>
                </a:srgb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C29501E6-A978-4A61-9689-9085AF97A5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2508972">
            <a:off x="5945431" y="-1032053"/>
            <a:ext cx="4990147" cy="4439131"/>
          </a:xfrm>
          <a:custGeom>
            <a:avLst/>
            <a:gdLst>
              <a:gd name="connsiteX0" fmla="*/ 4990147 w 4990147"/>
              <a:gd name="connsiteY0" fmla="*/ 2229378 h 4439131"/>
              <a:gd name="connsiteX1" fmla="*/ 917384 w 4990147"/>
              <a:gd name="connsiteY1" fmla="*/ 4439131 h 4439131"/>
              <a:gd name="connsiteX2" fmla="*/ 910814 w 4990147"/>
              <a:gd name="connsiteY2" fmla="*/ 4434219 h 4439131"/>
              <a:gd name="connsiteX3" fmla="*/ 0 w 4990147"/>
              <a:gd name="connsiteY3" fmla="*/ 2502877 h 4439131"/>
              <a:gd name="connsiteX4" fmla="*/ 2502877 w 4990147"/>
              <a:gd name="connsiteY4" fmla="*/ 0 h 4439131"/>
              <a:gd name="connsiteX5" fmla="*/ 4954904 w 4990147"/>
              <a:gd name="connsiteY5" fmla="*/ 1998460 h 44391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0147" h="4439131">
                <a:moveTo>
                  <a:pt x="4990147" y="2229378"/>
                </a:moveTo>
                <a:lnTo>
                  <a:pt x="917384" y="4439131"/>
                </a:lnTo>
                <a:lnTo>
                  <a:pt x="910814" y="4434219"/>
                </a:lnTo>
                <a:cubicBezTo>
                  <a:pt x="354557" y="3975154"/>
                  <a:pt x="0" y="3280421"/>
                  <a:pt x="0" y="2502877"/>
                </a:cubicBezTo>
                <a:cubicBezTo>
                  <a:pt x="0" y="1120576"/>
                  <a:pt x="1120576" y="0"/>
                  <a:pt x="2502877" y="0"/>
                </a:cubicBezTo>
                <a:cubicBezTo>
                  <a:pt x="3712390" y="0"/>
                  <a:pt x="4721520" y="857941"/>
                  <a:pt x="4954904" y="199846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22000"/>
                </a:schemeClr>
              </a:gs>
              <a:gs pos="87000">
                <a:schemeClr val="accent1">
                  <a:lumMod val="60000"/>
                  <a:lumOff val="40000"/>
                  <a:alpha val="2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715D214-0587-FC37-654D-585959ADB9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4824" y="735106"/>
            <a:ext cx="10053763" cy="292847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What is indirect prompt injection</a:t>
            </a:r>
          </a:p>
        </p:txBody>
      </p:sp>
    </p:spTree>
    <p:extLst>
      <p:ext uri="{BB962C8B-B14F-4D97-AF65-F5344CB8AC3E}">
        <p14:creationId xmlns:p14="http://schemas.microsoft.com/office/powerpoint/2010/main" val="14724949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1964351-886C-BDBB-1BA5-76796C7F22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6B2C21-A230-48C0-8DF1-C46611373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847E18C-932D-4C95-AABA-FEC7C9499A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50CB11-0C61-439E-910F-5787759E72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43F8A58B-5155-44CE-A5FF-7647B47D0A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3F2ACA-E6D6-4028-82DD-F03C262D5D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5" y="1410079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E5B2AFD-AAA1-4992-FE7D-64BAF929E8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478" y="1683756"/>
            <a:ext cx="3115265" cy="2396359"/>
          </a:xfrm>
        </p:spPr>
        <p:txBody>
          <a:bodyPr anchor="b">
            <a:normAutofit/>
          </a:bodyPr>
          <a:lstStyle/>
          <a:p>
            <a:pPr algn="r"/>
            <a:r>
              <a:rPr lang="en-GB" sz="4000">
                <a:solidFill>
                  <a:srgbClr val="FFFFFF"/>
                </a:solidFill>
              </a:rPr>
              <a:t>Firstly, what is prompt injection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1031CA0F-17D6-8F47-60E3-7D529131EC3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72220827"/>
              </p:ext>
            </p:extLst>
          </p:nvPr>
        </p:nvGraphicFramePr>
        <p:xfrm>
          <a:off x="4905052" y="750440"/>
          <a:ext cx="6666833" cy="54539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1870841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A8FA60A-FD4E-D760-CCEA-69864F2625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6B2C21-A230-48C0-8DF1-C46611373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847E18C-932D-4C95-AABA-FEC7C9499A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50CB11-0C61-439E-910F-5787759E72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43F8A58B-5155-44CE-A5FF-7647B47D0A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3F2ACA-E6D6-4028-82DD-F03C262D5D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5" y="1410079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68CB03C-C2B1-DCC4-8B95-7748929A02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478" y="1683756"/>
            <a:ext cx="3115265" cy="2396359"/>
          </a:xfrm>
        </p:spPr>
        <p:txBody>
          <a:bodyPr anchor="b">
            <a:normAutofit/>
          </a:bodyPr>
          <a:lstStyle/>
          <a:p>
            <a:pPr algn="r"/>
            <a:r>
              <a:rPr lang="en-GB" sz="4000">
                <a:solidFill>
                  <a:srgbClr val="FFFFFF"/>
                </a:solidFill>
              </a:rPr>
              <a:t>What is indirect prompt injection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50D4826A-8184-255D-3BF0-FAD6F772A57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27634215"/>
              </p:ext>
            </p:extLst>
          </p:nvPr>
        </p:nvGraphicFramePr>
        <p:xfrm>
          <a:off x="4905052" y="750440"/>
          <a:ext cx="6666833" cy="54539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9910746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A8F251D-384D-5822-E6DC-29F8208248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6F5A5072-7B47-4D32-B52A-4EBBF590B8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715DAF0-AE1B-46C9-8A6B-DB2AA05AB9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2" y="-22693"/>
            <a:ext cx="12191999" cy="4374129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016219D-510E-4184-9090-6D5578A87B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908719" y="-3931841"/>
            <a:ext cx="4374557" cy="12192000"/>
          </a:xfrm>
          <a:prstGeom prst="rect">
            <a:avLst/>
          </a:prstGeom>
          <a:gradFill>
            <a:gsLst>
              <a:gs pos="40000">
                <a:schemeClr val="accent1">
                  <a:alpha val="0"/>
                </a:schemeClr>
              </a:gs>
              <a:gs pos="100000">
                <a:schemeClr val="accent1">
                  <a:lumMod val="75000"/>
                  <a:alpha val="52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FF4A713-7B75-4B21-90D7-5AB19547C7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136696" y="-3703868"/>
            <a:ext cx="4374128" cy="11736479"/>
          </a:xfrm>
          <a:prstGeom prst="rect">
            <a:avLst/>
          </a:prstGeom>
          <a:gradFill>
            <a:gsLst>
              <a:gs pos="17000">
                <a:schemeClr val="accent1">
                  <a:alpha val="0"/>
                </a:schemeClr>
              </a:gs>
              <a:gs pos="100000">
                <a:srgbClr val="000000">
                  <a:alpha val="37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C631C0B-6DA6-4E57-8231-CE32B3434A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5" y="-22690"/>
            <a:ext cx="8542485" cy="4374126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25000"/>
                </a:srgb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C29501E6-A978-4A61-9689-9085AF97A5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2508972">
            <a:off x="5945431" y="-1032053"/>
            <a:ext cx="4990147" cy="4439131"/>
          </a:xfrm>
          <a:custGeom>
            <a:avLst/>
            <a:gdLst>
              <a:gd name="connsiteX0" fmla="*/ 4990147 w 4990147"/>
              <a:gd name="connsiteY0" fmla="*/ 2229378 h 4439131"/>
              <a:gd name="connsiteX1" fmla="*/ 917384 w 4990147"/>
              <a:gd name="connsiteY1" fmla="*/ 4439131 h 4439131"/>
              <a:gd name="connsiteX2" fmla="*/ 910814 w 4990147"/>
              <a:gd name="connsiteY2" fmla="*/ 4434219 h 4439131"/>
              <a:gd name="connsiteX3" fmla="*/ 0 w 4990147"/>
              <a:gd name="connsiteY3" fmla="*/ 2502877 h 4439131"/>
              <a:gd name="connsiteX4" fmla="*/ 2502877 w 4990147"/>
              <a:gd name="connsiteY4" fmla="*/ 0 h 4439131"/>
              <a:gd name="connsiteX5" fmla="*/ 4954904 w 4990147"/>
              <a:gd name="connsiteY5" fmla="*/ 1998460 h 44391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0147" h="4439131">
                <a:moveTo>
                  <a:pt x="4990147" y="2229378"/>
                </a:moveTo>
                <a:lnTo>
                  <a:pt x="917384" y="4439131"/>
                </a:lnTo>
                <a:lnTo>
                  <a:pt x="910814" y="4434219"/>
                </a:lnTo>
                <a:cubicBezTo>
                  <a:pt x="354557" y="3975154"/>
                  <a:pt x="0" y="3280421"/>
                  <a:pt x="0" y="2502877"/>
                </a:cubicBezTo>
                <a:cubicBezTo>
                  <a:pt x="0" y="1120576"/>
                  <a:pt x="1120576" y="0"/>
                  <a:pt x="2502877" y="0"/>
                </a:cubicBezTo>
                <a:cubicBezTo>
                  <a:pt x="3712390" y="0"/>
                  <a:pt x="4721520" y="857941"/>
                  <a:pt x="4954904" y="199846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22000"/>
                </a:schemeClr>
              </a:gs>
              <a:gs pos="87000">
                <a:schemeClr val="accent1">
                  <a:lumMod val="60000"/>
                  <a:lumOff val="40000"/>
                  <a:alpha val="2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F1201E1-28E1-A122-20E7-F0E5961771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4824" y="735106"/>
            <a:ext cx="10053763" cy="292847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Why is this research necessary</a:t>
            </a:r>
          </a:p>
        </p:txBody>
      </p:sp>
    </p:spTree>
    <p:extLst>
      <p:ext uri="{BB962C8B-B14F-4D97-AF65-F5344CB8AC3E}">
        <p14:creationId xmlns:p14="http://schemas.microsoft.com/office/powerpoint/2010/main" val="11770486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C931318-D48B-52C4-1C19-5FD9C1E2FB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GB" sz="4000">
                <a:solidFill>
                  <a:srgbClr val="FFFFFF"/>
                </a:solidFill>
              </a:rPr>
              <a:t>Why is this research necessary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908D42C8-06F9-08F1-C796-146C79DF8E4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51902232"/>
              </p:ext>
            </p:extLst>
          </p:nvPr>
        </p:nvGraphicFramePr>
        <p:xfrm>
          <a:off x="-2" y="1575459"/>
          <a:ext cx="12191998" cy="528254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8013079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B73B3C1-D494-EC79-0634-0BBB59FBA3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GB" sz="4000">
                <a:solidFill>
                  <a:srgbClr val="FFFFFF"/>
                </a:solidFill>
              </a:rPr>
              <a:t>Background work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C33C1E42-FDF9-087D-E369-A20FBCA322F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67569577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0950743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0624035-F8C5-8A3B-03ED-C0254962FD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6F5A5072-7B47-4D32-B52A-4EBBF590B8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715DAF0-AE1B-46C9-8A6B-DB2AA05AB9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2" y="-22693"/>
            <a:ext cx="12191999" cy="4374129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016219D-510E-4184-9090-6D5578A87B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908719" y="-3931841"/>
            <a:ext cx="4374557" cy="12192000"/>
          </a:xfrm>
          <a:prstGeom prst="rect">
            <a:avLst/>
          </a:prstGeom>
          <a:gradFill>
            <a:gsLst>
              <a:gs pos="40000">
                <a:schemeClr val="accent1">
                  <a:alpha val="0"/>
                </a:schemeClr>
              </a:gs>
              <a:gs pos="100000">
                <a:schemeClr val="accent1">
                  <a:lumMod val="75000"/>
                  <a:alpha val="52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FF4A713-7B75-4B21-90D7-5AB19547C7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136696" y="-3703868"/>
            <a:ext cx="4374128" cy="11736479"/>
          </a:xfrm>
          <a:prstGeom prst="rect">
            <a:avLst/>
          </a:prstGeom>
          <a:gradFill>
            <a:gsLst>
              <a:gs pos="17000">
                <a:schemeClr val="accent1">
                  <a:alpha val="0"/>
                </a:schemeClr>
              </a:gs>
              <a:gs pos="100000">
                <a:srgbClr val="000000">
                  <a:alpha val="37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C631C0B-6DA6-4E57-8231-CE32B3434A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5" y="-22690"/>
            <a:ext cx="8542485" cy="4374126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25000"/>
                </a:srgb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C29501E6-A978-4A61-9689-9085AF97A5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2508972">
            <a:off x="5945431" y="-1032053"/>
            <a:ext cx="4990147" cy="4439131"/>
          </a:xfrm>
          <a:custGeom>
            <a:avLst/>
            <a:gdLst>
              <a:gd name="connsiteX0" fmla="*/ 4990147 w 4990147"/>
              <a:gd name="connsiteY0" fmla="*/ 2229378 h 4439131"/>
              <a:gd name="connsiteX1" fmla="*/ 917384 w 4990147"/>
              <a:gd name="connsiteY1" fmla="*/ 4439131 h 4439131"/>
              <a:gd name="connsiteX2" fmla="*/ 910814 w 4990147"/>
              <a:gd name="connsiteY2" fmla="*/ 4434219 h 4439131"/>
              <a:gd name="connsiteX3" fmla="*/ 0 w 4990147"/>
              <a:gd name="connsiteY3" fmla="*/ 2502877 h 4439131"/>
              <a:gd name="connsiteX4" fmla="*/ 2502877 w 4990147"/>
              <a:gd name="connsiteY4" fmla="*/ 0 h 4439131"/>
              <a:gd name="connsiteX5" fmla="*/ 4954904 w 4990147"/>
              <a:gd name="connsiteY5" fmla="*/ 1998460 h 44391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0147" h="4439131">
                <a:moveTo>
                  <a:pt x="4990147" y="2229378"/>
                </a:moveTo>
                <a:lnTo>
                  <a:pt x="917384" y="4439131"/>
                </a:lnTo>
                <a:lnTo>
                  <a:pt x="910814" y="4434219"/>
                </a:lnTo>
                <a:cubicBezTo>
                  <a:pt x="354557" y="3975154"/>
                  <a:pt x="0" y="3280421"/>
                  <a:pt x="0" y="2502877"/>
                </a:cubicBezTo>
                <a:cubicBezTo>
                  <a:pt x="0" y="1120576"/>
                  <a:pt x="1120576" y="0"/>
                  <a:pt x="2502877" y="0"/>
                </a:cubicBezTo>
                <a:cubicBezTo>
                  <a:pt x="3712390" y="0"/>
                  <a:pt x="4721520" y="857941"/>
                  <a:pt x="4954904" y="199846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22000"/>
                </a:schemeClr>
              </a:gs>
              <a:gs pos="87000">
                <a:schemeClr val="accent1">
                  <a:lumMod val="60000"/>
                  <a:lumOff val="40000"/>
                  <a:alpha val="2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C7D2CE-205E-67E3-6661-AC04249C7F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4824" y="735106"/>
            <a:ext cx="10053763" cy="292847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Methodology</a:t>
            </a:r>
          </a:p>
        </p:txBody>
      </p:sp>
    </p:spTree>
    <p:extLst>
      <p:ext uri="{BB962C8B-B14F-4D97-AF65-F5344CB8AC3E}">
        <p14:creationId xmlns:p14="http://schemas.microsoft.com/office/powerpoint/2010/main" val="1888569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EDDD343-FE60-33D1-E07C-D91CD2BA3F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D92C19A-AD23-CAD6-E8F1-881E859354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GB" sz="4000">
                <a:solidFill>
                  <a:srgbClr val="FFFFFF"/>
                </a:solidFill>
              </a:rPr>
              <a:t>Methodology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F3C3E9A4-3CF8-500A-1D9D-6FB4EC1009C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2424799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9402457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50D1C5B3-B60D-4696-AE60-100D5EC8AB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73EDDF53-0851-48D4-A466-6FE0DCE91E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192002" cy="1576446"/>
            <a:chOff x="0" y="0"/>
            <a:chExt cx="12192002" cy="1576446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D074D04C-85E8-4A3E-90D7-86A10AE048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 flipH="1">
              <a:off x="2" y="0"/>
              <a:ext cx="12191998" cy="1575955"/>
            </a:xfrm>
            <a:prstGeom prst="rect">
              <a:avLst/>
            </a:prstGeom>
            <a:gradFill>
              <a:gsLst>
                <a:gs pos="0">
                  <a:srgbClr val="000000">
                    <a:alpha val="96000"/>
                  </a:srgbClr>
                </a:gs>
                <a:gs pos="100000">
                  <a:schemeClr val="accent1">
                    <a:lumMod val="75000"/>
                  </a:schemeClr>
                </a:gs>
              </a:gsLst>
              <a:lin ang="8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4097020A-86B6-43BD-A2AA-66AE72CA311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5307778" y="-5307778"/>
              <a:ext cx="1576446" cy="12192002"/>
            </a:xfrm>
            <a:prstGeom prst="rect">
              <a:avLst/>
            </a:prstGeom>
            <a:gradFill>
              <a:gsLst>
                <a:gs pos="45000">
                  <a:schemeClr val="accent1">
                    <a:alpha val="0"/>
                  </a:schemeClr>
                </a:gs>
                <a:gs pos="99000">
                  <a:srgbClr val="000000">
                    <a:alpha val="74000"/>
                  </a:srgbClr>
                </a:gs>
              </a:gsLst>
              <a:lin ang="11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20C6C743-32FE-4E24-AA22-45D3B1C7C0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825434" y="0"/>
              <a:ext cx="4303422" cy="1575461"/>
            </a:xfrm>
            <a:prstGeom prst="rect">
              <a:avLst/>
            </a:prstGeom>
            <a:gradFill>
              <a:gsLst>
                <a:gs pos="0">
                  <a:schemeClr val="accent1">
                    <a:alpha val="17000"/>
                  </a:schemeClr>
                </a:gs>
                <a:gs pos="74000">
                  <a:schemeClr val="accent1">
                    <a:lumMod val="50000"/>
                    <a:alpha val="0"/>
                  </a:schemeClr>
                </a:gs>
              </a:gsLst>
              <a:lin ang="14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5E08E3B-D0F6-9F77-3B07-19FCC8172D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407695"/>
            <a:ext cx="9724030" cy="834251"/>
          </a:xfrm>
        </p:spPr>
        <p:txBody>
          <a:bodyPr anchor="ctr">
            <a:normAutofit/>
          </a:bodyPr>
          <a:lstStyle/>
          <a:p>
            <a:r>
              <a:rPr lang="en-GB" sz="2500">
                <a:solidFill>
                  <a:srgbClr val="FFFFFF"/>
                </a:solidFill>
              </a:rPr>
              <a:t>Web app focus</a:t>
            </a:r>
            <a:br>
              <a:rPr lang="en-GB" sz="2500">
                <a:solidFill>
                  <a:srgbClr val="FFFFFF"/>
                </a:solidFill>
              </a:rPr>
            </a:br>
            <a:endParaRPr lang="en-GB" sz="2500">
              <a:solidFill>
                <a:srgbClr val="FFFFFF"/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619EC2A-F00A-EB44-6453-28AEF4903FF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062" r="2173"/>
          <a:stretch>
            <a:fillRect/>
          </a:stretch>
        </p:blipFill>
        <p:spPr>
          <a:xfrm>
            <a:off x="1636489" y="2200459"/>
            <a:ext cx="2642212" cy="213300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AB5C90A-15F3-EFD9-678C-602178D561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46007" y="2200459"/>
            <a:ext cx="2713581" cy="213300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4CCCFBD-9E7A-438D-B685-C4C0CB8DB91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4995" r="7320"/>
          <a:stretch>
            <a:fillRect/>
          </a:stretch>
        </p:blipFill>
        <p:spPr>
          <a:xfrm>
            <a:off x="7913295" y="2200459"/>
            <a:ext cx="2820140" cy="2133001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3986E4-5F6F-FEEE-293E-366E838718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1" y="4786744"/>
            <a:ext cx="9448800" cy="1442631"/>
          </a:xfrm>
        </p:spPr>
        <p:txBody>
          <a:bodyPr>
            <a:normAutofit/>
          </a:bodyPr>
          <a:lstStyle/>
          <a:p>
            <a:r>
              <a:rPr lang="en-GB" sz="2000"/>
              <a:t>The focus of my research will be surrounding web apps.</a:t>
            </a:r>
          </a:p>
          <a:p>
            <a:r>
              <a:rPr lang="en-GB" sz="2000"/>
              <a:t>Exploitation methods through web apps were largely shown in Greshake et al </a:t>
            </a:r>
          </a:p>
        </p:txBody>
      </p:sp>
    </p:spTree>
    <p:extLst>
      <p:ext uri="{BB962C8B-B14F-4D97-AF65-F5344CB8AC3E}">
        <p14:creationId xmlns:p14="http://schemas.microsoft.com/office/powerpoint/2010/main" val="277094269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58B3EB9-8AE8-E436-0A72-7B05E7BBC0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6F5A5072-7B47-4D32-B52A-4EBBF590B8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715DAF0-AE1B-46C9-8A6B-DB2AA05AB9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2" y="-22693"/>
            <a:ext cx="12191999" cy="4374129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016219D-510E-4184-9090-6D5578A87B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908719" y="-3931841"/>
            <a:ext cx="4374557" cy="12192000"/>
          </a:xfrm>
          <a:prstGeom prst="rect">
            <a:avLst/>
          </a:prstGeom>
          <a:gradFill>
            <a:gsLst>
              <a:gs pos="40000">
                <a:schemeClr val="accent1">
                  <a:alpha val="0"/>
                </a:schemeClr>
              </a:gs>
              <a:gs pos="100000">
                <a:schemeClr val="accent1">
                  <a:lumMod val="75000"/>
                  <a:alpha val="52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FF4A713-7B75-4B21-90D7-5AB19547C7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136696" y="-3703868"/>
            <a:ext cx="4374128" cy="11736479"/>
          </a:xfrm>
          <a:prstGeom prst="rect">
            <a:avLst/>
          </a:prstGeom>
          <a:gradFill>
            <a:gsLst>
              <a:gs pos="17000">
                <a:schemeClr val="accent1">
                  <a:alpha val="0"/>
                </a:schemeClr>
              </a:gs>
              <a:gs pos="100000">
                <a:srgbClr val="000000">
                  <a:alpha val="37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C631C0B-6DA6-4E57-8231-CE32B3434A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5" y="-22690"/>
            <a:ext cx="8542485" cy="4374126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25000"/>
                </a:srgb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C29501E6-A978-4A61-9689-9085AF97A5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2508972">
            <a:off x="5945431" y="-1032053"/>
            <a:ext cx="4990147" cy="4439131"/>
          </a:xfrm>
          <a:custGeom>
            <a:avLst/>
            <a:gdLst>
              <a:gd name="connsiteX0" fmla="*/ 4990147 w 4990147"/>
              <a:gd name="connsiteY0" fmla="*/ 2229378 h 4439131"/>
              <a:gd name="connsiteX1" fmla="*/ 917384 w 4990147"/>
              <a:gd name="connsiteY1" fmla="*/ 4439131 h 4439131"/>
              <a:gd name="connsiteX2" fmla="*/ 910814 w 4990147"/>
              <a:gd name="connsiteY2" fmla="*/ 4434219 h 4439131"/>
              <a:gd name="connsiteX3" fmla="*/ 0 w 4990147"/>
              <a:gd name="connsiteY3" fmla="*/ 2502877 h 4439131"/>
              <a:gd name="connsiteX4" fmla="*/ 2502877 w 4990147"/>
              <a:gd name="connsiteY4" fmla="*/ 0 h 4439131"/>
              <a:gd name="connsiteX5" fmla="*/ 4954904 w 4990147"/>
              <a:gd name="connsiteY5" fmla="*/ 1998460 h 44391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0147" h="4439131">
                <a:moveTo>
                  <a:pt x="4990147" y="2229378"/>
                </a:moveTo>
                <a:lnTo>
                  <a:pt x="917384" y="4439131"/>
                </a:lnTo>
                <a:lnTo>
                  <a:pt x="910814" y="4434219"/>
                </a:lnTo>
                <a:cubicBezTo>
                  <a:pt x="354557" y="3975154"/>
                  <a:pt x="0" y="3280421"/>
                  <a:pt x="0" y="2502877"/>
                </a:cubicBezTo>
                <a:cubicBezTo>
                  <a:pt x="0" y="1120576"/>
                  <a:pt x="1120576" y="0"/>
                  <a:pt x="2502877" y="0"/>
                </a:cubicBezTo>
                <a:cubicBezTo>
                  <a:pt x="3712390" y="0"/>
                  <a:pt x="4721520" y="857941"/>
                  <a:pt x="4954904" y="199846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22000"/>
                </a:schemeClr>
              </a:gs>
              <a:gs pos="87000">
                <a:schemeClr val="accent1">
                  <a:lumMod val="60000"/>
                  <a:lumOff val="40000"/>
                  <a:alpha val="2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4D6D3FB-B767-3A7B-0157-EFD6BD8C14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4824" y="735106"/>
            <a:ext cx="10053763" cy="292847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Current progress</a:t>
            </a:r>
          </a:p>
        </p:txBody>
      </p:sp>
    </p:spTree>
    <p:extLst>
      <p:ext uri="{BB962C8B-B14F-4D97-AF65-F5344CB8AC3E}">
        <p14:creationId xmlns:p14="http://schemas.microsoft.com/office/powerpoint/2010/main" val="40954554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B6C609-F5E3-CD30-509F-600C852513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Current progress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08F170-AD61-132D-2436-F83052D7BD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Currently my aim is to make a basic proof of concept of the idea.</a:t>
            </a:r>
          </a:p>
          <a:p>
            <a:r>
              <a:rPr lang="en-GB" dirty="0"/>
              <a:t>The proof of concept combines the idea of both </a:t>
            </a:r>
          </a:p>
        </p:txBody>
      </p:sp>
    </p:spTree>
    <p:extLst>
      <p:ext uri="{BB962C8B-B14F-4D97-AF65-F5344CB8AC3E}">
        <p14:creationId xmlns:p14="http://schemas.microsoft.com/office/powerpoint/2010/main" val="20443638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57A027-35E6-60E0-B6F4-488536058D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Future 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F13E4E-51CC-1C06-A252-C18C5D4D5C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2000" dirty="0"/>
              <a:t>Going forward with this project, I will be looking into various methods of bypassing securities or making the attack more realistic. These include:</a:t>
            </a:r>
          </a:p>
          <a:p>
            <a:r>
              <a:rPr lang="en-GB" sz="2000" dirty="0"/>
              <a:t>Using </a:t>
            </a:r>
            <a:r>
              <a:rPr lang="en-GB" sz="2000" dirty="0" err="1"/>
              <a:t>User_Client</a:t>
            </a:r>
            <a:r>
              <a:rPr lang="en-GB" sz="2000" dirty="0"/>
              <a:t> data to vary webpages dependant on who/what is viewing them</a:t>
            </a:r>
          </a:p>
          <a:p>
            <a:r>
              <a:rPr lang="en-GB" sz="2000" dirty="0"/>
              <a:t>Exploring various attack vectors such as user data retrieval or code infiltration</a:t>
            </a:r>
          </a:p>
          <a:p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9125236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0C88A0F-8132-7AFB-38BC-6135762D6C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6F5A5072-7B47-4D32-B52A-4EBBF590B8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715DAF0-AE1B-46C9-8A6B-DB2AA05AB9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2" y="-22693"/>
            <a:ext cx="12191999" cy="4374129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016219D-510E-4184-9090-6D5578A87B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908719" y="-3931841"/>
            <a:ext cx="4374557" cy="12192000"/>
          </a:xfrm>
          <a:prstGeom prst="rect">
            <a:avLst/>
          </a:prstGeom>
          <a:gradFill>
            <a:gsLst>
              <a:gs pos="40000">
                <a:schemeClr val="accent1">
                  <a:alpha val="0"/>
                </a:schemeClr>
              </a:gs>
              <a:gs pos="100000">
                <a:schemeClr val="accent1">
                  <a:lumMod val="75000"/>
                  <a:alpha val="52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FF4A713-7B75-4B21-90D7-5AB19547C7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136696" y="-3703868"/>
            <a:ext cx="4374128" cy="11736479"/>
          </a:xfrm>
          <a:prstGeom prst="rect">
            <a:avLst/>
          </a:prstGeom>
          <a:gradFill>
            <a:gsLst>
              <a:gs pos="17000">
                <a:schemeClr val="accent1">
                  <a:alpha val="0"/>
                </a:schemeClr>
              </a:gs>
              <a:gs pos="100000">
                <a:srgbClr val="000000">
                  <a:alpha val="37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C631C0B-6DA6-4E57-8231-CE32B3434A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5" y="-22690"/>
            <a:ext cx="8542485" cy="4374126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25000"/>
                </a:srgb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C29501E6-A978-4A61-9689-9085AF97A5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2508972">
            <a:off x="5945431" y="-1032053"/>
            <a:ext cx="4990147" cy="4439131"/>
          </a:xfrm>
          <a:custGeom>
            <a:avLst/>
            <a:gdLst>
              <a:gd name="connsiteX0" fmla="*/ 4990147 w 4990147"/>
              <a:gd name="connsiteY0" fmla="*/ 2229378 h 4439131"/>
              <a:gd name="connsiteX1" fmla="*/ 917384 w 4990147"/>
              <a:gd name="connsiteY1" fmla="*/ 4439131 h 4439131"/>
              <a:gd name="connsiteX2" fmla="*/ 910814 w 4990147"/>
              <a:gd name="connsiteY2" fmla="*/ 4434219 h 4439131"/>
              <a:gd name="connsiteX3" fmla="*/ 0 w 4990147"/>
              <a:gd name="connsiteY3" fmla="*/ 2502877 h 4439131"/>
              <a:gd name="connsiteX4" fmla="*/ 2502877 w 4990147"/>
              <a:gd name="connsiteY4" fmla="*/ 0 h 4439131"/>
              <a:gd name="connsiteX5" fmla="*/ 4954904 w 4990147"/>
              <a:gd name="connsiteY5" fmla="*/ 1998460 h 44391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0147" h="4439131">
                <a:moveTo>
                  <a:pt x="4990147" y="2229378"/>
                </a:moveTo>
                <a:lnTo>
                  <a:pt x="917384" y="4439131"/>
                </a:lnTo>
                <a:lnTo>
                  <a:pt x="910814" y="4434219"/>
                </a:lnTo>
                <a:cubicBezTo>
                  <a:pt x="354557" y="3975154"/>
                  <a:pt x="0" y="3280421"/>
                  <a:pt x="0" y="2502877"/>
                </a:cubicBezTo>
                <a:cubicBezTo>
                  <a:pt x="0" y="1120576"/>
                  <a:pt x="1120576" y="0"/>
                  <a:pt x="2502877" y="0"/>
                </a:cubicBezTo>
                <a:cubicBezTo>
                  <a:pt x="3712390" y="0"/>
                  <a:pt x="4721520" y="857941"/>
                  <a:pt x="4954904" y="199846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22000"/>
                </a:schemeClr>
              </a:gs>
              <a:gs pos="87000">
                <a:schemeClr val="accent1">
                  <a:lumMod val="60000"/>
                  <a:lumOff val="40000"/>
                  <a:alpha val="2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F7F98D-1680-9126-9468-830E3F8112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4824" y="735106"/>
            <a:ext cx="10053763" cy="292847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Reflections</a:t>
            </a:r>
          </a:p>
        </p:txBody>
      </p:sp>
    </p:spTree>
    <p:extLst>
      <p:ext uri="{BB962C8B-B14F-4D97-AF65-F5344CB8AC3E}">
        <p14:creationId xmlns:p14="http://schemas.microsoft.com/office/powerpoint/2010/main" val="12692682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FFFFAE-A319-CEAA-2F68-B476B0F403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Concluding reflections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509802-D1A0-8BAB-07C7-BFD095F3D6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6840837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8E5DA4-0956-62B3-1522-842C06D710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85AEF6-EB74-E5E6-4C8E-3B7A1B7B85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7689425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2461</TotalTime>
  <Words>566</Words>
  <Application>Microsoft Office PowerPoint</Application>
  <PresentationFormat>Widescreen</PresentationFormat>
  <Paragraphs>43</Paragraphs>
  <Slides>17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Aptos</vt:lpstr>
      <vt:lpstr>Aptos Display</vt:lpstr>
      <vt:lpstr>Arial</vt:lpstr>
      <vt:lpstr>Office Theme</vt:lpstr>
      <vt:lpstr>Demonstration of progress</vt:lpstr>
      <vt:lpstr>The project</vt:lpstr>
      <vt:lpstr>What is indirect prompt injection</vt:lpstr>
      <vt:lpstr>Firstly, what is prompt injection</vt:lpstr>
      <vt:lpstr>What is indirect prompt injection</vt:lpstr>
      <vt:lpstr>Why is this research necessary</vt:lpstr>
      <vt:lpstr>Why is this research necessary</vt:lpstr>
      <vt:lpstr>Background work</vt:lpstr>
      <vt:lpstr>Methodology</vt:lpstr>
      <vt:lpstr>Methodology</vt:lpstr>
      <vt:lpstr>Web app focus </vt:lpstr>
      <vt:lpstr>Current progress</vt:lpstr>
      <vt:lpstr>Current progress</vt:lpstr>
      <vt:lpstr>Future work</vt:lpstr>
      <vt:lpstr>Reflections</vt:lpstr>
      <vt:lpstr>Concluding reflections</vt:lpstr>
      <vt:lpstr>References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Finley Hitchings</dc:creator>
  <cp:lastModifiedBy>Finley Hitchings</cp:lastModifiedBy>
  <cp:revision>8</cp:revision>
  <dcterms:created xsi:type="dcterms:W3CDTF">2026-02-06T16:02:38Z</dcterms:created>
  <dcterms:modified xsi:type="dcterms:W3CDTF">2026-02-12T00:45:09Z</dcterms:modified>
</cp:coreProperties>
</file>